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43" r:id="rId4"/>
    <p:sldMasterId id="2147483744" r:id="rId5"/>
    <p:sldMasterId id="2147483745" r:id="rId6"/>
    <p:sldMasterId id="214748374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9AA0A6"/>
          </p15:clr>
        </p15:guide>
        <p15:guide id="4" orient="horz" pos="2952">
          <p15:clr>
            <a:srgbClr val="9AA0A6"/>
          </p15:clr>
        </p15:guide>
        <p15:guide id="5" pos="4896">
          <p15:clr>
            <a:srgbClr val="9AA0A6"/>
          </p15:clr>
        </p15:guide>
        <p15:guide id="6" orient="horz" pos="917">
          <p15:clr>
            <a:srgbClr val="9AA0A6"/>
          </p15:clr>
        </p15:guide>
        <p15:guide id="7" pos="4320">
          <p15:clr>
            <a:srgbClr val="9AA0A6"/>
          </p15:clr>
        </p15:guide>
        <p15:guide id="8" pos="3744">
          <p15:clr>
            <a:srgbClr val="9AA0A6"/>
          </p15:clr>
        </p15:guide>
        <p15:guide id="9" pos="3168">
          <p15:clr>
            <a:srgbClr val="9AA0A6"/>
          </p15:clr>
        </p15:guide>
        <p15:guide id="10" pos="2592">
          <p15:clr>
            <a:srgbClr val="9AA0A6"/>
          </p15:clr>
        </p15:guide>
        <p15:guide id="11" pos="2016">
          <p15:clr>
            <a:srgbClr val="9AA0A6"/>
          </p15:clr>
        </p15:guide>
        <p15:guide id="12" pos="1440">
          <p15:clr>
            <a:srgbClr val="9AA0A6"/>
          </p15:clr>
        </p15:guide>
        <p15:guide id="13" pos="864">
          <p15:clr>
            <a:srgbClr val="9AA0A6"/>
          </p15:clr>
        </p15:guide>
        <p15:guide id="14" orient="horz" pos="1546">
          <p15:clr>
            <a:srgbClr val="9AA0A6"/>
          </p15:clr>
        </p15:guide>
        <p15:guide id="15" orient="horz" pos="1694">
          <p15:clr>
            <a:srgbClr val="9AA0A6"/>
          </p15:clr>
        </p15:guide>
        <p15:guide id="16" orient="horz" pos="232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288"/>
        <p:guide pos="5472"/>
        <p:guide pos="2952" orient="horz"/>
        <p:guide pos="4896"/>
        <p:guide pos="917" orient="horz"/>
        <p:guide pos="4320"/>
        <p:guide pos="3744"/>
        <p:guide pos="3168"/>
        <p:guide pos="2592"/>
        <p:guide pos="2016"/>
        <p:guide pos="1440"/>
        <p:guide pos="864"/>
        <p:guide pos="1546" orient="horz"/>
        <p:guide pos="1694" orient="horz"/>
        <p:guide pos="232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schemas.openxmlformats.org/officeDocument/2006/relationships/slide" Target="slides/slide36.xml"/><Relationship Id="rId21" Type="http://schemas.openxmlformats.org/officeDocument/2006/relationships/slide" Target="slides/slide13.xml"/><Relationship Id="rId43" Type="http://schemas.openxmlformats.org/officeDocument/2006/relationships/slide" Target="slides/slide35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andscape.aswf.io/embed/embed.html?base-path=&amp;key=aswf-member-company&amp;headers=true&amp;category-header=false&amp;category-in-subcategory=false&amp;title-uppercase=false&amp;title-alignment=left&amp;title-font-family=sans-serif&amp;title-font-size=13&amp;style=clean&amp;bg-color=%232b8ca0&amp;fg-color=%23ffffff&amp;item-modal=false&amp;item-name=false&amp;size=lg&amp;items-alignment=left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mertic.github.io/committee-gallery/academy-software-foundation-governing-board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mertic.github.io/committee-gallery/academy-software-foundation-governing-board_slidedeck_alternates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mertic.github.io/committee-gallery/academy-software-foundation-staff_slidedeck_all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3bf50b1865_1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3bf50b1865_1_6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41a776a3e_0_2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Academy Software Foundation was developed in a partnership between the Academy of Motion Picture Arts and Sciences and the Linux Foundation, both partners bringing a unique blend of film industry knowledge and open source technical and organizational expertise to create a unique organization dedicated to accelerate software development and innovation in the motion picture industry. </a:t>
            </a:r>
            <a:endParaRPr/>
          </a:p>
        </p:txBody>
      </p:sp>
      <p:sp>
        <p:nvSpPr>
          <p:cNvPr id="415" name="Google Shape;415;g2641a776a3e_0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933a1795b_3_2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f933a1795b_3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54e6b8a1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f54e6b8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landscape.aswf.io/embed/embed.html?base-path=&amp;key=aswf-member-company&amp;headers=true&amp;category-header=false&amp;category-in-subcategory=false&amp;title-uppercase=false&amp;title-alignment=left&amp;title-font-family=sans-serif&amp;title-font-size=13&amp;style=clean&amp;bg-color=%232b8ca0&amp;fg-color=%23ffffff&amp;item-modal=false&amp;item-name=false&amp;size=lg&amp;items-alignment=left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3bf50b1865_1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3bf50b1865_1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933a1795b_3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0" name="Google Shape;620;g3f933a1795b_3_5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3bf50b1865_1_9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g23bf50b1865_1_9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39fda6744f_0_1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39fda6744f_0_12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6dc2bfbbc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26dc2bfbbcd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3bf50b1865_1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3bf50b1865_1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39fda6744f_0_1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39fda6744f_0_1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39fda6744f_0_1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239fda6744f_0_1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54e6b8a18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f54e6b8a18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https://jmertic.github.io/committee-gallery/academy-software-foundation-governing-board</a:t>
            </a:r>
            <a:r>
              <a:rPr lang="en"/>
              <a:t> </a:t>
            </a:r>
            <a:endParaRPr/>
          </a:p>
        </p:txBody>
      </p:sp>
      <p:sp>
        <p:nvSpPr>
          <p:cNvPr id="765" name="Google Shape;765;g3f54e6b8a18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4f81ee95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4f81ee95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39fda6744f_0_12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g239fda6744f_0_12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54e6b8a18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3f54e6b8a18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https://jmertic.github.io/committee-gallery/academy-software-foundation-governing-board_slidedeck_alternates</a:t>
            </a:r>
            <a:endParaRPr/>
          </a:p>
        </p:txBody>
      </p:sp>
      <p:sp>
        <p:nvSpPr>
          <p:cNvPr id="786" name="Google Shape;786;g3f54e6b8a18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641a776a3e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641a776a3e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b86e582f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b86e582f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b86e582f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b86e582f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641a776a3e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641a776a3e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3bf50b1865_1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23bf50b1865_1_7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66f2283a8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a66f2283a8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39fda6744f_0_1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g239fda6744f_0_12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3bf50b1865_1_9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g23bf50b1865_1_9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39fda6744f_0_1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g239fda6744f_0_1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39fda6744f_0_1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g239fda6744f_0_1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641a776a3e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641a776a3e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641a776a3e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641a776a3e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44a5df102b_3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144a5df102b_3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3bf50b1865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3bf50b1865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3bf50b1865_1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3bf50b1865_1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641a776a3e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641a776a3e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641a776a3e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641a776a3e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rgbClr val="2200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https://jmertic.github.io/committee-gallery/academy-software-foundation-staff_slidedeck_all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3bf50b1865_1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3bf50b1865_1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375398be2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375398be2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Relationship Id="rId3" Type="http://schemas.openxmlformats.org/officeDocument/2006/relationships/image" Target="../media/image2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5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8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8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5.png"/><Relationship Id="rId3" Type="http://schemas.openxmlformats.org/officeDocument/2006/relationships/image" Target="../media/image89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3.jpg"/><Relationship Id="rId3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4.png"/><Relationship Id="rId3" Type="http://schemas.openxmlformats.org/officeDocument/2006/relationships/image" Target="../media/image8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2.png"/><Relationship Id="rId3" Type="http://schemas.openxmlformats.org/officeDocument/2006/relationships/image" Target="../media/image8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8.png"/><Relationship Id="rId3" Type="http://schemas.openxmlformats.org/officeDocument/2006/relationships/image" Target="../media/image8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3.png"/><Relationship Id="rId3" Type="http://schemas.openxmlformats.org/officeDocument/2006/relationships/image" Target="../media/image8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6.png"/><Relationship Id="rId3" Type="http://schemas.openxmlformats.org/officeDocument/2006/relationships/image" Target="../media/image9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6.png"/><Relationship Id="rId3" Type="http://schemas.openxmlformats.org/officeDocument/2006/relationships/image" Target="../media/image9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6.png"/><Relationship Id="rId3" Type="http://schemas.openxmlformats.org/officeDocument/2006/relationships/image" Target="../media/image99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6.png"/><Relationship Id="rId3" Type="http://schemas.openxmlformats.org/officeDocument/2006/relationships/image" Target="../media/image99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1.png"/><Relationship Id="rId3" Type="http://schemas.openxmlformats.org/officeDocument/2006/relationships/image" Target="../media/image99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1.png"/><Relationship Id="rId3" Type="http://schemas.openxmlformats.org/officeDocument/2006/relationships/image" Target="../media/image99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7.png"/><Relationship Id="rId3" Type="http://schemas.openxmlformats.org/officeDocument/2006/relationships/image" Target="../media/image99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7.png"/><Relationship Id="rId3" Type="http://schemas.openxmlformats.org/officeDocument/2006/relationships/image" Target="../media/image99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6.jp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8.jpg"/><Relationship Id="rId3" Type="http://schemas.openxmlformats.org/officeDocument/2006/relationships/image" Target="../media/image1.png"/><Relationship Id="rId4" Type="http://schemas.openxmlformats.org/officeDocument/2006/relationships/image" Target="../media/image1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422" y="1497122"/>
            <a:ext cx="4025156" cy="2149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9" name="Google Shape;9;p2"/>
          <p:cNvPicPr preferRelativeResize="0"/>
          <p:nvPr/>
        </p:nvPicPr>
        <p:blipFill rotWithShape="1">
          <a:blip r:embed="rId5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2" name="Google Shape;12;p3"/>
          <p:cNvPicPr preferRelativeResize="0"/>
          <p:nvPr/>
        </p:nvPicPr>
        <p:blipFill rotWithShape="1">
          <a:blip r:embed="rId4">
            <a:alphaModFix/>
          </a:blip>
          <a:srcRect b="16097" l="58822" r="15209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42" y="1674386"/>
            <a:ext cx="3361163" cy="179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2">
  <p:cSld name="14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18" name="Google Shape;18;p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">
  <p:cSld name="16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" y="4972050"/>
            <a:ext cx="914171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3" name="Google Shape;23;p5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and Content 2">
  <p:cSld name="12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9" name="Google Shape;29;p6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">
  <p:cSld name="1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33" name="Google Shape;33;p7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1">
  <p:cSld name="14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and Content 1">
  <p:cSld name="20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 1">
  <p:cSld name="16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48" name="Google Shape;48;p11"/>
          <p:cNvPicPr preferRelativeResize="0"/>
          <p:nvPr/>
        </p:nvPicPr>
        <p:blipFill rotWithShape="1">
          <a:blip r:embed="rId4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51" name="Google Shape;51;p12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55" name="Google Shape;55;p13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59" name="Google Shape;59;p1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67" name="Google Shape;67;p16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 Slid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 Blank">
  <p:cSld name="2_Custom Layou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ard" showMasterSp="0">
  <p:cSld name="9_Title Slide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11225" y="597641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>
            <p:ph idx="2" type="pic"/>
          </p:nvPr>
        </p:nvSpPr>
        <p:spPr>
          <a:xfrm>
            <a:off x="1141256" y="2728538"/>
            <a:ext cx="1584300" cy="15843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9781" y="4381181"/>
            <a:ext cx="37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75" name="Google Shape;75;p19"/>
          <p:cNvSpPr txBox="1"/>
          <p:nvPr>
            <p:ph idx="3" type="body"/>
          </p:nvPr>
        </p:nvSpPr>
        <p:spPr>
          <a:xfrm>
            <a:off x="4113338" y="2468569"/>
            <a:ext cx="48294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ctrTitle"/>
          </p:nvPr>
        </p:nvSpPr>
        <p:spPr>
          <a:xfrm>
            <a:off x="628650" y="727472"/>
            <a:ext cx="4400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cap="none" strike="noStrike">
                <a:solidFill>
                  <a:schemeClr val="lt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" type="subTitle"/>
          </p:nvPr>
        </p:nvSpPr>
        <p:spPr>
          <a:xfrm>
            <a:off x="628650" y="2587228"/>
            <a:ext cx="4400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500" u="none" cap="none" strike="noStrike">
                <a:solidFill>
                  <a:schemeClr val="lt1"/>
                </a:solidFill>
              </a:defRPr>
            </a:lvl1pPr>
            <a:lvl2pPr indent="0" lvl="1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500" u="none" cap="none" strike="noStrike">
                <a:solidFill>
                  <a:srgbClr val="2F2F2F"/>
                </a:solidFill>
              </a:defRPr>
            </a:lvl2pPr>
            <a:lvl3pPr indent="0" lvl="2" marL="6858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400" u="none" cap="none" strike="noStrike">
                <a:solidFill>
                  <a:srgbClr val="2F2F2F"/>
                </a:solidFill>
              </a:defRPr>
            </a:lvl3pPr>
            <a:lvl4pPr indent="0" lvl="3" marL="10287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200" u="none" cap="none" strike="noStrike">
                <a:solidFill>
                  <a:srgbClr val="2F2F2F"/>
                </a:solidFill>
              </a:defRPr>
            </a:lvl4pPr>
            <a:lvl5pPr indent="0" lvl="4" marL="13716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200" u="none" cap="none" strike="noStrike">
                <a:solidFill>
                  <a:srgbClr val="2F2F2F"/>
                </a:solidFill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9" name="Google Shape;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2" y="4141100"/>
            <a:ext cx="1305600" cy="4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Dark">
  <p:cSld name="Transition Light_1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200" y="1835944"/>
            <a:ext cx="822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i="0" sz="3200" u="none" cap="none" strike="noStrike">
                <a:solidFill>
                  <a:srgbClr val="FFFFF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4" name="Google Shape;8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Green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ext Half Width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233750" y="179822"/>
            <a:ext cx="7486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100" u="none" cap="none" strike="noStrike">
                <a:solidFill>
                  <a:srgbClr val="168FD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>
            <a:off x="233750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Char char="○"/>
              <a:defRPr i="0" sz="11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" name="Google Shape;92;p24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6251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Char char="○"/>
              <a:defRPr i="0" sz="11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4" name="Google Shape;9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2_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>
            <p:ph type="title"/>
          </p:nvPr>
        </p:nvSpPr>
        <p:spPr>
          <a:xfrm>
            <a:off x="628625" y="986875"/>
            <a:ext cx="78864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628625" y="2571775"/>
            <a:ext cx="78864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1">
  <p:cSld name="1_Title Slide_1">
    <p:bg>
      <p:bgPr>
        <a:solidFill>
          <a:srgbClr val="3CC1C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594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ernate 6">
  <p:cSld name="7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02" name="Google Shape;102;p27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7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4_Title and Content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07" name="Google Shape;107;p28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9" name="Google Shape;109;p28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Theme 1">
  <p:cSld name="Title and Content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11" name="Google Shape;111;p29"/>
          <p:cNvPicPr preferRelativeResize="0"/>
          <p:nvPr/>
        </p:nvPicPr>
        <p:blipFill rotWithShape="1">
          <a:blip r:embed="rId3">
            <a:alphaModFix/>
          </a:blip>
          <a:srcRect b="0" l="56900" r="0" t="0"/>
          <a:stretch/>
        </p:blipFill>
        <p:spPr>
          <a:xfrm>
            <a:off x="8389634" y="78623"/>
            <a:ext cx="612780" cy="689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9"/>
          <p:cNvSpPr txBox="1"/>
          <p:nvPr/>
        </p:nvSpPr>
        <p:spPr>
          <a:xfrm>
            <a:off x="111956" y="4855069"/>
            <a:ext cx="34563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Academy Software Foundation Governing Board CONFIDENTIAL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 1">
  <p:cSld name="3_Custom Layout_1">
    <p:bg>
      <p:bgPr>
        <a:gradFill>
          <a:gsLst>
            <a:gs pos="0">
              <a:srgbClr val="FFF0DC"/>
            </a:gs>
            <a:gs pos="100000">
              <a:srgbClr val="FFBB7F"/>
            </a:gs>
          </a:gsLst>
          <a:lin ang="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422" y="1497122"/>
            <a:ext cx="4025156" cy="2149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18" name="Google Shape;118;p32"/>
          <p:cNvPicPr preferRelativeResize="0"/>
          <p:nvPr/>
        </p:nvPicPr>
        <p:blipFill rotWithShape="1">
          <a:blip r:embed="rId5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21" name="Google Shape;121;p33"/>
          <p:cNvPicPr preferRelativeResize="0"/>
          <p:nvPr/>
        </p:nvPicPr>
        <p:blipFill rotWithShape="1">
          <a:blip r:embed="rId4">
            <a:alphaModFix/>
          </a:blip>
          <a:srcRect b="16097" l="58822" r="15209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42" y="1674386"/>
            <a:ext cx="3361163" cy="179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2">
  <p:cSld name="14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127" name="Google Shape;127;p3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9" name="Google Shape;129;p34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">
  <p:cSld name="16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" y="4972050"/>
            <a:ext cx="914171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32" name="Google Shape;132;p35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5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and Content 2">
  <p:cSld name="12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7" name="Google Shape;137;p36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38" name="Google Shape;138;p36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6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">
  <p:cSld name="1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7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42" name="Google Shape;142;p37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7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37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1">
  <p:cSld name="14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and Content 1">
  <p:cSld name="20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39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39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 1">
  <p:cSld name="16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57" name="Google Shape;157;p41"/>
          <p:cNvPicPr preferRelativeResize="0"/>
          <p:nvPr/>
        </p:nvPicPr>
        <p:blipFill rotWithShape="1">
          <a:blip r:embed="rId4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1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60" name="Google Shape;160;p42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2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4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64" name="Google Shape;164;p43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3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43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68" name="Google Shape;168;p4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72" name="Google Shape;172;p45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5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4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76" name="Google Shape;176;p46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6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 Slid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 Blank">
  <p:cSld name="2_Custom Layou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ard" showMasterSp="0">
  <p:cSld name="9_Title Slide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11225" y="597641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9"/>
          <p:cNvSpPr/>
          <p:nvPr>
            <p:ph idx="2" type="pic"/>
          </p:nvPr>
        </p:nvSpPr>
        <p:spPr>
          <a:xfrm>
            <a:off x="1141256" y="2728538"/>
            <a:ext cx="1584300" cy="158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49"/>
          <p:cNvSpPr txBox="1"/>
          <p:nvPr>
            <p:ph idx="1" type="subTitle"/>
          </p:nvPr>
        </p:nvSpPr>
        <p:spPr>
          <a:xfrm>
            <a:off x="49781" y="4381181"/>
            <a:ext cx="37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84" name="Google Shape;184;p49"/>
          <p:cNvSpPr txBox="1"/>
          <p:nvPr>
            <p:ph idx="3" type="body"/>
          </p:nvPr>
        </p:nvSpPr>
        <p:spPr>
          <a:xfrm>
            <a:off x="4113338" y="2468569"/>
            <a:ext cx="48294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0"/>
          <p:cNvSpPr txBox="1"/>
          <p:nvPr>
            <p:ph type="ctrTitle"/>
          </p:nvPr>
        </p:nvSpPr>
        <p:spPr>
          <a:xfrm>
            <a:off x="628650" y="727472"/>
            <a:ext cx="4400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cap="none" strike="noStrike">
                <a:solidFill>
                  <a:schemeClr val="lt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50"/>
          <p:cNvSpPr txBox="1"/>
          <p:nvPr>
            <p:ph idx="1" type="subTitle"/>
          </p:nvPr>
        </p:nvSpPr>
        <p:spPr>
          <a:xfrm>
            <a:off x="628650" y="2587228"/>
            <a:ext cx="4400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500" u="none" cap="none" strike="noStrike">
                <a:solidFill>
                  <a:schemeClr val="lt1"/>
                </a:solidFill>
              </a:defRPr>
            </a:lvl1pPr>
            <a:lvl2pPr indent="0" lvl="1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500" u="none" cap="none" strike="noStrike">
                <a:solidFill>
                  <a:srgbClr val="2F2F2F"/>
                </a:solidFill>
              </a:defRPr>
            </a:lvl2pPr>
            <a:lvl3pPr indent="0" lvl="2" marL="6858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400" u="none" cap="none" strike="noStrike">
                <a:solidFill>
                  <a:srgbClr val="2F2F2F"/>
                </a:solidFill>
              </a:defRPr>
            </a:lvl3pPr>
            <a:lvl4pPr indent="0" lvl="3" marL="10287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200" u="none" cap="none" strike="noStrike">
                <a:solidFill>
                  <a:srgbClr val="2F2F2F"/>
                </a:solidFill>
              </a:defRPr>
            </a:lvl4pPr>
            <a:lvl5pPr indent="0" lvl="4" marL="13716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200" u="none" cap="none" strike="noStrike">
                <a:solidFill>
                  <a:srgbClr val="2F2F2F"/>
                </a:solidFill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2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8" name="Google Shape;1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2" y="4141100"/>
            <a:ext cx="1305600" cy="4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Dark">
  <p:cSld name="Transition Light_1">
    <p:bg>
      <p:bgPr>
        <a:solidFill>
          <a:schemeClr val="dk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1"/>
          <p:cNvSpPr txBox="1"/>
          <p:nvPr>
            <p:ph type="title"/>
          </p:nvPr>
        </p:nvSpPr>
        <p:spPr>
          <a:xfrm>
            <a:off x="457200" y="1835944"/>
            <a:ext cx="822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i="0" sz="3200" u="none" cap="none" strike="noStrike">
                <a:solidFill>
                  <a:srgbClr val="FFFFF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51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2" name="Google Shape;192;p51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7150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3" name="Google Shape;19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2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Green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ext Half Width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4"/>
          <p:cNvSpPr txBox="1"/>
          <p:nvPr>
            <p:ph type="title"/>
          </p:nvPr>
        </p:nvSpPr>
        <p:spPr>
          <a:xfrm>
            <a:off x="233750" y="179822"/>
            <a:ext cx="7486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None/>
              <a:defRPr i="0" sz="1100" u="none" cap="none" strike="noStrike">
                <a:solidFill>
                  <a:srgbClr val="168FD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None/>
              <a:defRPr sz="1100"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54"/>
          <p:cNvSpPr txBox="1"/>
          <p:nvPr>
            <p:ph idx="1" type="body"/>
          </p:nvPr>
        </p:nvSpPr>
        <p:spPr>
          <a:xfrm>
            <a:off x="233750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Char char="○"/>
              <a:defRPr i="0" sz="11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54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1" name="Google Shape;201;p54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7150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54"/>
          <p:cNvSpPr txBox="1"/>
          <p:nvPr>
            <p:ph idx="2" type="body"/>
          </p:nvPr>
        </p:nvSpPr>
        <p:spPr>
          <a:xfrm>
            <a:off x="4676251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100"/>
              <a:buFont typeface="Arial"/>
              <a:buChar char="○"/>
              <a:defRPr i="0" sz="11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3" name="Google Shape;20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422" y="1497122"/>
            <a:ext cx="4025156" cy="2149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08" name="Google Shape;208;p56"/>
          <p:cNvPicPr preferRelativeResize="0"/>
          <p:nvPr/>
        </p:nvPicPr>
        <p:blipFill rotWithShape="1">
          <a:blip r:embed="rId5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11" name="Google Shape;211;p57"/>
          <p:cNvPicPr preferRelativeResize="0"/>
          <p:nvPr/>
        </p:nvPicPr>
        <p:blipFill rotWithShape="1">
          <a:blip r:embed="rId4">
            <a:alphaModFix/>
          </a:blip>
          <a:srcRect b="16097" l="58822" r="15209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42" y="1674386"/>
            <a:ext cx="3361163" cy="179473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7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57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2">
  <p:cSld name="14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17" name="Google Shape;217;p58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8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9" name="Google Shape;219;p58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">
  <p:cSld name="16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2" name="Google Shape;22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" y="4972050"/>
            <a:ext cx="914171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23" name="Google Shape;223;p59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9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and Content 2">
  <p:cSld name="12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7" name="Google Shape;227;p60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28" name="Google Shape;228;p60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0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">
  <p:cSld name="1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1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32" name="Google Shape;232;p61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33" name="Google Shape;233;p61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1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 1">
  <p:cSld name="14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37" name="Google Shape;23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5356" y="4200525"/>
            <a:ext cx="822695" cy="8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2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and Content 1">
  <p:cSld name="20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3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63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2" name="Google Shape;24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5356" y="4200525"/>
            <a:ext cx="822695" cy="8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3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and Content 1">
  <p:cSld name="16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6" name="Google Shape;24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5356" y="4200525"/>
            <a:ext cx="822695" cy="8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250" name="Google Shape;250;p65"/>
          <p:cNvPicPr preferRelativeResize="0"/>
          <p:nvPr/>
        </p:nvPicPr>
        <p:blipFill rotWithShape="1">
          <a:blip r:embed="rId4">
            <a:alphaModFix/>
          </a:blip>
          <a:srcRect b="16097" l="58824" r="15207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65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1">
  <p:cSld name="2_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6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7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57" name="Google Shape;257;p67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7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61" name="Google Shape;261;p68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8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65" name="Google Shape;265;p69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9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0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69" name="Google Shape;269;p70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0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272" name="Google Shape;272;p71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1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 1">
  <p:cSld name="1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276" name="Google Shape;27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166" y="143882"/>
            <a:ext cx="1421746" cy="68982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2"/>
          <p:cNvSpPr txBox="1"/>
          <p:nvPr>
            <p:ph type="title"/>
          </p:nvPr>
        </p:nvSpPr>
        <p:spPr>
          <a:xfrm>
            <a:off x="628650" y="273844"/>
            <a:ext cx="78867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 Slid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 Blank">
  <p:cSld name="2_Custom Layou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ard" showMasterSp="0">
  <p:cSld name="9_Title Slide_1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11225" y="597641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5"/>
          <p:cNvSpPr/>
          <p:nvPr>
            <p:ph idx="2" type="pic"/>
          </p:nvPr>
        </p:nvSpPr>
        <p:spPr>
          <a:xfrm>
            <a:off x="1141256" y="2728538"/>
            <a:ext cx="1584300" cy="15843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75"/>
          <p:cNvSpPr txBox="1"/>
          <p:nvPr>
            <p:ph idx="1" type="subTitle"/>
          </p:nvPr>
        </p:nvSpPr>
        <p:spPr>
          <a:xfrm>
            <a:off x="49781" y="4381181"/>
            <a:ext cx="37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00"/>
              <a:buNone/>
              <a:defRPr sz="6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284" name="Google Shape;284;p75"/>
          <p:cNvSpPr txBox="1"/>
          <p:nvPr>
            <p:ph idx="3" type="body"/>
          </p:nvPr>
        </p:nvSpPr>
        <p:spPr>
          <a:xfrm>
            <a:off x="4113338" y="2468569"/>
            <a:ext cx="48294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1">
  <p:cSld name="1_Title Slide_1">
    <p:bg>
      <p:bgPr>
        <a:solidFill>
          <a:srgbClr val="3CC1CD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594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Theme 1">
  <p:cSld name="Title and Content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288" name="Google Shape;288;p77"/>
          <p:cNvPicPr preferRelativeResize="0"/>
          <p:nvPr/>
        </p:nvPicPr>
        <p:blipFill rotWithShape="1">
          <a:blip r:embed="rId3">
            <a:alphaModFix/>
          </a:blip>
          <a:srcRect b="0" l="56900" r="0" t="0"/>
          <a:stretch/>
        </p:blipFill>
        <p:spPr>
          <a:xfrm>
            <a:off x="8389634" y="78623"/>
            <a:ext cx="612780" cy="6898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77"/>
          <p:cNvSpPr txBox="1"/>
          <p:nvPr/>
        </p:nvSpPr>
        <p:spPr>
          <a:xfrm>
            <a:off x="111956" y="4855069"/>
            <a:ext cx="34563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Academy Software Foundation Governing Board CONFIDENTIAL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2">
  <p:cSld name="2_Title and Content 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8"/>
          <p:cNvSpPr/>
          <p:nvPr/>
        </p:nvSpPr>
        <p:spPr>
          <a:xfrm>
            <a:off x="0" y="916600"/>
            <a:ext cx="9144000" cy="42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8"/>
          <p:cNvSpPr txBox="1"/>
          <p:nvPr>
            <p:ph type="title"/>
          </p:nvPr>
        </p:nvSpPr>
        <p:spPr>
          <a:xfrm>
            <a:off x="628650" y="273844"/>
            <a:ext cx="67965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rgbClr val="005A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1">
  <p:cSld name="1_Title Slide_1">
    <p:bg>
      <p:bgPr>
        <a:solidFill>
          <a:srgbClr val="3CC1C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596" y="2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logo&#10;&#10;Description automatically generated" id="300" name="Google Shape;30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162" y="749507"/>
            <a:ext cx="5831430" cy="356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2"/>
          <p:cNvSpPr txBox="1"/>
          <p:nvPr>
            <p:ph idx="1" type="body"/>
          </p:nvPr>
        </p:nvSpPr>
        <p:spPr>
          <a:xfrm>
            <a:off x="258842" y="1744191"/>
            <a:ext cx="5793000" cy="13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82"/>
          <p:cNvSpPr txBox="1"/>
          <p:nvPr>
            <p:ph idx="2" type="body"/>
          </p:nvPr>
        </p:nvSpPr>
        <p:spPr>
          <a:xfrm>
            <a:off x="258842" y="3151033"/>
            <a:ext cx="3026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82"/>
          <p:cNvSpPr txBox="1"/>
          <p:nvPr>
            <p:ph idx="3" type="body"/>
          </p:nvPr>
        </p:nvSpPr>
        <p:spPr>
          <a:xfrm>
            <a:off x="262947" y="4470167"/>
            <a:ext cx="2150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305" name="Google Shape;30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74" y="-269823"/>
            <a:ext cx="2682065" cy="164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3"/>
          <p:cNvSpPr txBox="1"/>
          <p:nvPr>
            <p:ph idx="1" type="body"/>
          </p:nvPr>
        </p:nvSpPr>
        <p:spPr>
          <a:xfrm>
            <a:off x="258842" y="1766676"/>
            <a:ext cx="5793000" cy="132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83"/>
          <p:cNvSpPr txBox="1"/>
          <p:nvPr>
            <p:ph idx="2" type="body"/>
          </p:nvPr>
        </p:nvSpPr>
        <p:spPr>
          <a:xfrm>
            <a:off x="258842" y="3173518"/>
            <a:ext cx="3026100" cy="4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83"/>
          <p:cNvSpPr txBox="1"/>
          <p:nvPr>
            <p:ph idx="3" type="body"/>
          </p:nvPr>
        </p:nvSpPr>
        <p:spPr>
          <a:xfrm>
            <a:off x="270442" y="4470167"/>
            <a:ext cx="2150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310" name="Google Shape;31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74" y="-269823"/>
            <a:ext cx="2682065" cy="164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4"/>
          <p:cNvSpPr txBox="1"/>
          <p:nvPr>
            <p:ph idx="1" type="body"/>
          </p:nvPr>
        </p:nvSpPr>
        <p:spPr>
          <a:xfrm>
            <a:off x="3867992" y="2093372"/>
            <a:ext cx="50061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313" name="Google Shape;31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0346" y="-269823"/>
            <a:ext cx="2682065" cy="164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5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85"/>
          <p:cNvSpPr txBox="1"/>
          <p:nvPr>
            <p:ph idx="1" type="body"/>
          </p:nvPr>
        </p:nvSpPr>
        <p:spPr>
          <a:xfrm>
            <a:off x="355601" y="885371"/>
            <a:ext cx="73764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85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5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a black square&#10;&#10;Description automatically generated with medium confidence" id="319" name="Google Shape;31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 1">
  <p:cSld name="8_Custom Layou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6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86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6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a black square&#10;&#10;Description automatically generated with medium confidence" id="324" name="Google Shape;32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7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87"/>
          <p:cNvSpPr txBox="1"/>
          <p:nvPr>
            <p:ph idx="1" type="body"/>
          </p:nvPr>
        </p:nvSpPr>
        <p:spPr>
          <a:xfrm>
            <a:off x="355601" y="885371"/>
            <a:ext cx="34689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8" name="Google Shape;328;p87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7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7"/>
          <p:cNvSpPr txBox="1"/>
          <p:nvPr>
            <p:ph idx="2" type="body"/>
          </p:nvPr>
        </p:nvSpPr>
        <p:spPr>
          <a:xfrm>
            <a:off x="4204595" y="885371"/>
            <a:ext cx="34689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87"/>
          <p:cNvSpPr txBox="1"/>
          <p:nvPr/>
        </p:nvSpPr>
        <p:spPr>
          <a:xfrm>
            <a:off x="7060758" y="-29419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background with a black square&#10;&#10;Description automatically generated with medium confidence" id="332" name="Google Shape;33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8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88"/>
          <p:cNvSpPr txBox="1"/>
          <p:nvPr>
            <p:ph idx="1" type="body"/>
          </p:nvPr>
        </p:nvSpPr>
        <p:spPr>
          <a:xfrm>
            <a:off x="355601" y="885371"/>
            <a:ext cx="34689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88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8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8"/>
          <p:cNvSpPr txBox="1"/>
          <p:nvPr/>
        </p:nvSpPr>
        <p:spPr>
          <a:xfrm>
            <a:off x="7060758" y="-29419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8"/>
          <p:cNvSpPr/>
          <p:nvPr>
            <p:ph idx="2" type="pic"/>
          </p:nvPr>
        </p:nvSpPr>
        <p:spPr>
          <a:xfrm>
            <a:off x="4255756" y="867246"/>
            <a:ext cx="3896700" cy="33159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background with a black square&#10;&#10;Description automatically generated with medium confidence" id="340" name="Google Shape;34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9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89"/>
          <p:cNvSpPr txBox="1"/>
          <p:nvPr>
            <p:ph idx="1" type="body"/>
          </p:nvPr>
        </p:nvSpPr>
        <p:spPr>
          <a:xfrm>
            <a:off x="355600" y="885375"/>
            <a:ext cx="61227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89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9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a black square&#10;&#10;Description automatically generated with medium confidence" id="346" name="Google Shape;34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0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90"/>
          <p:cNvSpPr txBox="1"/>
          <p:nvPr>
            <p:ph idx="1" type="body"/>
          </p:nvPr>
        </p:nvSpPr>
        <p:spPr>
          <a:xfrm>
            <a:off x="355601" y="885371"/>
            <a:ext cx="34689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90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0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0"/>
          <p:cNvSpPr txBox="1"/>
          <p:nvPr/>
        </p:nvSpPr>
        <p:spPr>
          <a:xfrm>
            <a:off x="7060758" y="-29419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0"/>
          <p:cNvSpPr/>
          <p:nvPr>
            <p:ph idx="2" type="pic"/>
          </p:nvPr>
        </p:nvSpPr>
        <p:spPr>
          <a:xfrm>
            <a:off x="4255756" y="867246"/>
            <a:ext cx="3896700" cy="33159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background with a black square&#10;&#10;Description automatically generated with medium confidence" id="354" name="Google Shape;354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1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91"/>
          <p:cNvSpPr txBox="1"/>
          <p:nvPr>
            <p:ph idx="1" type="body"/>
          </p:nvPr>
        </p:nvSpPr>
        <p:spPr>
          <a:xfrm>
            <a:off x="355600" y="885375"/>
            <a:ext cx="59175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p91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1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a black square&#10;&#10;Description automatically generated with medium confidence" id="360" name="Google Shape;36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2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92"/>
          <p:cNvSpPr txBox="1"/>
          <p:nvPr>
            <p:ph idx="1" type="body"/>
          </p:nvPr>
        </p:nvSpPr>
        <p:spPr>
          <a:xfrm>
            <a:off x="355601" y="885371"/>
            <a:ext cx="34689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92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2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2"/>
          <p:cNvSpPr txBox="1"/>
          <p:nvPr/>
        </p:nvSpPr>
        <p:spPr>
          <a:xfrm>
            <a:off x="7060758" y="-294198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2"/>
          <p:cNvSpPr/>
          <p:nvPr>
            <p:ph idx="2" type="pic"/>
          </p:nvPr>
        </p:nvSpPr>
        <p:spPr>
          <a:xfrm>
            <a:off x="4255756" y="867246"/>
            <a:ext cx="3896700" cy="33159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A black background with a black square&#10;&#10;Description automatically generated with medium confidence" id="368" name="Google Shape;368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92" y="4437089"/>
            <a:ext cx="779421" cy="47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370" name="Google Shape;370;p93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93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4_Title and Content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373" name="Google Shape;373;p9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94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75" name="Google Shape;375;p94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4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378" name="Google Shape;378;p95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95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80" name="Google Shape;380;p95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Alternate 1">
  <p:cSld name="16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6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83" name="Google Shape;38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" y="4972050"/>
            <a:ext cx="914171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384" name="Google Shape;384;p96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96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StatementSlide_5">
  <p:cSld name="04_StatementSlide_5">
    <p:bg>
      <p:bgPr>
        <a:solidFill>
          <a:schemeClr val="dk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97"/>
          <p:cNvPicPr preferRelativeResize="0"/>
          <p:nvPr/>
        </p:nvPicPr>
        <p:blipFill rotWithShape="1">
          <a:blip r:embed="rId2">
            <a:alphaModFix/>
          </a:blip>
          <a:srcRect b="27121" l="6137" r="588" t="20399"/>
          <a:stretch/>
        </p:blipFill>
        <p:spPr>
          <a:xfrm flipH="1">
            <a:off x="3" y="1"/>
            <a:ext cx="914409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97"/>
          <p:cNvSpPr txBox="1"/>
          <p:nvPr>
            <p:ph idx="1" type="subTitle"/>
          </p:nvPr>
        </p:nvSpPr>
        <p:spPr>
          <a:xfrm>
            <a:off x="349535" y="305100"/>
            <a:ext cx="48822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9" name="Google Shape;389;p97"/>
          <p:cNvSpPr txBox="1"/>
          <p:nvPr/>
        </p:nvSpPr>
        <p:spPr>
          <a:xfrm>
            <a:off x="8148359" y="4800600"/>
            <a:ext cx="6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7"/>
          <p:cNvSpPr txBox="1"/>
          <p:nvPr>
            <p:ph idx="2" type="subTitle"/>
          </p:nvPr>
        </p:nvSpPr>
        <p:spPr>
          <a:xfrm>
            <a:off x="342895" y="4800600"/>
            <a:ext cx="132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3" name="Google Shape;393;p98"/>
          <p:cNvSpPr txBox="1"/>
          <p:nvPr>
            <p:ph type="title"/>
          </p:nvPr>
        </p:nvSpPr>
        <p:spPr>
          <a:xfrm>
            <a:off x="276356" y="215410"/>
            <a:ext cx="6770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black and white text&#10;&#10;Description automatically generated" id="394" name="Google Shape;394;p98"/>
          <p:cNvPicPr preferRelativeResize="0"/>
          <p:nvPr/>
        </p:nvPicPr>
        <p:blipFill rotWithShape="1">
          <a:blip r:embed="rId3">
            <a:alphaModFix/>
          </a:blip>
          <a:srcRect b="0" l="56900" r="0" t="0"/>
          <a:stretch/>
        </p:blipFill>
        <p:spPr>
          <a:xfrm>
            <a:off x="7730309" y="101573"/>
            <a:ext cx="612780" cy="68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" y="4737188"/>
            <a:ext cx="9141714" cy="406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Alternate 3">
  <p:cSld name="18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98" name="Google Shape;398;p99"/>
          <p:cNvPicPr preferRelativeResize="0"/>
          <p:nvPr/>
        </p:nvPicPr>
        <p:blipFill rotWithShape="1">
          <a:blip r:embed="rId3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399" name="Google Shape;399;p99"/>
          <p:cNvPicPr preferRelativeResize="0"/>
          <p:nvPr/>
        </p:nvPicPr>
        <p:blipFill rotWithShape="1">
          <a:blip r:embed="rId4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99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50.xml"/><Relationship Id="rId24" Type="http://schemas.openxmlformats.org/officeDocument/2006/relationships/theme" Target="../theme/theme4.xml"/><Relationship Id="rId23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4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4" Type="http://schemas.openxmlformats.org/officeDocument/2006/relationships/theme" Target="../theme/theme5.xml"/><Relationship Id="rId23" Type="http://schemas.openxmlformats.org/officeDocument/2006/relationships/slideLayout" Target="../slideLayouts/slideLayout75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5.xml"/><Relationship Id="rId21" Type="http://schemas.openxmlformats.org/officeDocument/2006/relationships/theme" Target="../theme/theme2.xml"/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9"/>
          <p:cNvSpPr txBox="1"/>
          <p:nvPr>
            <p:ph type="title"/>
          </p:nvPr>
        </p:nvSpPr>
        <p:spPr>
          <a:xfrm>
            <a:off x="457200" y="205979"/>
            <a:ext cx="822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79"/>
          <p:cNvSpPr txBox="1"/>
          <p:nvPr>
            <p:ph idx="1" type="body"/>
          </p:nvPr>
        </p:nvSpPr>
        <p:spPr>
          <a:xfrm>
            <a:off x="457200" y="1200151"/>
            <a:ext cx="8229600" cy="3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6" name="Google Shape;296;p79"/>
          <p:cNvSpPr txBox="1"/>
          <p:nvPr/>
        </p:nvSpPr>
        <p:spPr>
          <a:xfrm>
            <a:off x="53175" y="4693500"/>
            <a:ext cx="396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96464"/>
                </a:solidFill>
                <a:latin typeface="Arial"/>
                <a:ea typeface="Arial"/>
                <a:cs typeface="Arial"/>
                <a:sym typeface="Arial"/>
              </a:rPr>
              <a:t>Academy Software Foundation Governing Board CONFIDENTIAL</a:t>
            </a:r>
            <a:endParaRPr b="0" i="0" sz="900" u="none" cap="none" strike="noStrike">
              <a:solidFill>
                <a:srgbClr val="6964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1.png"/><Relationship Id="rId4" Type="http://schemas.openxmlformats.org/officeDocument/2006/relationships/image" Target="../media/image106.png"/><Relationship Id="rId5" Type="http://schemas.openxmlformats.org/officeDocument/2006/relationships/image" Target="../media/image1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8.png"/><Relationship Id="rId4" Type="http://schemas.openxmlformats.org/officeDocument/2006/relationships/image" Target="../media/image142.png"/><Relationship Id="rId5" Type="http://schemas.openxmlformats.org/officeDocument/2006/relationships/image" Target="../media/image1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linuxfoundation.org/" TargetMode="External"/><Relationship Id="rId4" Type="http://schemas.openxmlformats.org/officeDocument/2006/relationships/hyperlink" Target="https://charter.aswf.io" TargetMode="External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5.png"/><Relationship Id="rId22" Type="http://schemas.openxmlformats.org/officeDocument/2006/relationships/image" Target="../media/image131.png"/><Relationship Id="rId21" Type="http://schemas.openxmlformats.org/officeDocument/2006/relationships/image" Target="../media/image130.png"/><Relationship Id="rId24" Type="http://schemas.openxmlformats.org/officeDocument/2006/relationships/image" Target="../media/image132.png"/><Relationship Id="rId23" Type="http://schemas.openxmlformats.org/officeDocument/2006/relationships/image" Target="../media/image138.png"/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13.png"/><Relationship Id="rId26" Type="http://schemas.openxmlformats.org/officeDocument/2006/relationships/image" Target="../media/image137.png"/><Relationship Id="rId25" Type="http://schemas.openxmlformats.org/officeDocument/2006/relationships/image" Target="../media/image133.png"/><Relationship Id="rId28" Type="http://schemas.openxmlformats.org/officeDocument/2006/relationships/image" Target="../media/image139.png"/><Relationship Id="rId27" Type="http://schemas.openxmlformats.org/officeDocument/2006/relationships/image" Target="../media/image135.png"/><Relationship Id="rId5" Type="http://schemas.openxmlformats.org/officeDocument/2006/relationships/image" Target="../media/image116.png"/><Relationship Id="rId6" Type="http://schemas.openxmlformats.org/officeDocument/2006/relationships/image" Target="../media/image114.png"/><Relationship Id="rId29" Type="http://schemas.openxmlformats.org/officeDocument/2006/relationships/image" Target="../media/image140.png"/><Relationship Id="rId7" Type="http://schemas.openxmlformats.org/officeDocument/2006/relationships/image" Target="../media/image111.png"/><Relationship Id="rId8" Type="http://schemas.openxmlformats.org/officeDocument/2006/relationships/image" Target="../media/image112.jpg"/><Relationship Id="rId11" Type="http://schemas.openxmlformats.org/officeDocument/2006/relationships/image" Target="../media/image121.png"/><Relationship Id="rId10" Type="http://schemas.openxmlformats.org/officeDocument/2006/relationships/image" Target="../media/image122.jpg"/><Relationship Id="rId13" Type="http://schemas.openxmlformats.org/officeDocument/2006/relationships/image" Target="../media/image124.png"/><Relationship Id="rId12" Type="http://schemas.openxmlformats.org/officeDocument/2006/relationships/image" Target="../media/image134.png"/><Relationship Id="rId15" Type="http://schemas.openxmlformats.org/officeDocument/2006/relationships/image" Target="../media/image120.png"/><Relationship Id="rId14" Type="http://schemas.openxmlformats.org/officeDocument/2006/relationships/image" Target="../media/image127.png"/><Relationship Id="rId17" Type="http://schemas.openxmlformats.org/officeDocument/2006/relationships/image" Target="../media/image126.png"/><Relationship Id="rId16" Type="http://schemas.openxmlformats.org/officeDocument/2006/relationships/image" Target="../media/image119.png"/><Relationship Id="rId19" Type="http://schemas.openxmlformats.org/officeDocument/2006/relationships/image" Target="../media/image128.png"/><Relationship Id="rId18" Type="http://schemas.openxmlformats.org/officeDocument/2006/relationships/image" Target="../media/image1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ac.aswf.io" TargetMode="External"/><Relationship Id="rId4" Type="http://schemas.openxmlformats.org/officeDocument/2006/relationships/hyperlink" Target="https://tac.aswf.io/meetings/" TargetMode="External"/><Relationship Id="rId5" Type="http://schemas.openxmlformats.org/officeDocument/2006/relationships/hyperlink" Target="https://lists.aswf.io/g/tac" TargetMode="External"/><Relationship Id="rId6" Type="http://schemas.openxmlformats.org/officeDocument/2006/relationships/hyperlink" Target="https://tac.aswf.io/engagement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harter.aswf.io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ac.aswf.i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harter.aswf.i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0.png"/><Relationship Id="rId4" Type="http://schemas.openxmlformats.org/officeDocument/2006/relationships/image" Target="../media/image1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embers.aswf.io" TargetMode="External"/><Relationship Id="rId4" Type="http://schemas.openxmlformats.org/officeDocument/2006/relationships/hyperlink" Target="https://openprofile.dev/" TargetMode="External"/><Relationship Id="rId5" Type="http://schemas.openxmlformats.org/officeDocument/2006/relationships/hyperlink" Target="https://members.aswf.io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3.png"/><Relationship Id="rId4" Type="http://schemas.openxmlformats.org/officeDocument/2006/relationships/image" Target="../media/image1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harter.aswf.io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harter.aswf.io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lists.aswf.io/g/board/files/Meeting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Relationship Id="rId3" Type="http://schemas.openxmlformats.org/officeDocument/2006/relationships/hyperlink" Target="mailto:board@lists.aswf.io" TargetMode="External"/><Relationship Id="rId4" Type="http://schemas.openxmlformats.org/officeDocument/2006/relationships/hyperlink" Target="mailto:tac@lists.aswf.io" TargetMode="External"/><Relationship Id="rId5" Type="http://schemas.openxmlformats.org/officeDocument/2006/relationships/hyperlink" Target="mailto:budget@lists.aswf.io" TargetMode="External"/><Relationship Id="rId6" Type="http://schemas.openxmlformats.org/officeDocument/2006/relationships/hyperlink" Target="mailto:legal@lists.aswf.io" TargetMode="External"/><Relationship Id="rId7" Type="http://schemas.openxmlformats.org/officeDocument/2006/relationships/hyperlink" Target="https://slack.aswf.io" TargetMode="External"/><Relationship Id="rId8" Type="http://schemas.openxmlformats.org/officeDocument/2006/relationships/hyperlink" Target="https://members.aswf.io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members.aswf.io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harter.aswf.io" TargetMode="External"/><Relationship Id="rId4" Type="http://schemas.openxmlformats.org/officeDocument/2006/relationships/hyperlink" Target="https://www.linuxfoundation.org/legal/antitrust-policy" TargetMode="External"/><Relationship Id="rId5" Type="http://schemas.openxmlformats.org/officeDocument/2006/relationships/hyperlink" Target="https://github.com/AcademySoftwareFoundation/foundation" TargetMode="External"/><Relationship Id="rId6" Type="http://schemas.openxmlformats.org/officeDocument/2006/relationships/hyperlink" Target="https://github.com/AcademySoftwareFoundation/foundation/blob/main/elections.md" TargetMode="External"/><Relationship Id="rId7" Type="http://schemas.openxmlformats.org/officeDocument/2006/relationships/hyperlink" Target="https://github.com/AcademySoftwareFoundation/foundation/tree/main/project_charters" TargetMode="External"/><Relationship Id="rId8" Type="http://schemas.openxmlformats.org/officeDocument/2006/relationships/hyperlink" Target="https://landscape.aswf.io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myorg.lfx.dev" TargetMode="External"/><Relationship Id="rId4" Type="http://schemas.openxmlformats.org/officeDocument/2006/relationships/hyperlink" Target="https://jira.linuxfoundation.org/plugins/servlet/desk/portal/4/create/464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embers.aswf.io" TargetMode="External"/><Relationship Id="rId4" Type="http://schemas.openxmlformats.org/officeDocument/2006/relationships/image" Target="../media/image1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aswf.io/about/members/" TargetMode="External"/><Relationship Id="rId4" Type="http://schemas.openxmlformats.org/officeDocument/2006/relationships/hyperlink" Target="https://www.aswf.io/about/staff/" TargetMode="External"/><Relationship Id="rId5" Type="http://schemas.openxmlformats.org/officeDocument/2006/relationships/hyperlink" Target="https://www.linuxfoundation.org/about/leadership" TargetMode="External"/><Relationship Id="rId6" Type="http://schemas.openxmlformats.org/officeDocument/2006/relationships/hyperlink" Target="https://www.aswf.io/about/governing-board/" TargetMode="External"/><Relationship Id="rId7" Type="http://schemas.openxmlformats.org/officeDocument/2006/relationships/hyperlink" Target="https://www.aswf.io/about/technical-advisory-council/" TargetMode="External"/><Relationship Id="rId8" Type="http://schemas.openxmlformats.org/officeDocument/2006/relationships/hyperlink" Target="https://tac.aswf.io/engagement/#mailing-lists-and-slack-channels-for-hosted-project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members.aswf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0012" y="4564388"/>
            <a:ext cx="253575" cy="2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00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Overview</a:t>
            </a:r>
            <a:endParaRPr/>
          </a:p>
        </p:txBody>
      </p:sp>
      <p:sp>
        <p:nvSpPr>
          <p:cNvPr id="407" name="Google Shape;407;p100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1"/>
          <p:cNvSpPr txBox="1"/>
          <p:nvPr>
            <p:ph type="title"/>
          </p:nvPr>
        </p:nvSpPr>
        <p:spPr>
          <a:xfrm>
            <a:off x="691950" y="1627675"/>
            <a:ext cx="7886400" cy="14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Academy Software Foundation Overview and Governance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2"/>
          <p:cNvSpPr txBox="1"/>
          <p:nvPr>
            <p:ph type="title"/>
          </p:nvPr>
        </p:nvSpPr>
        <p:spPr>
          <a:xfrm>
            <a:off x="628650" y="39853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34250" spcFirstLastPara="1" rIns="34250" wrap="square" tIns="342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" sz="2300">
                <a:solidFill>
                  <a:schemeClr val="lt1"/>
                </a:solidFill>
              </a:rPr>
              <a:t>An Open Source Foundation Developed in Partnership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descr="Google Shape;303;p2" id="418" name="Google Shape;418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5900" y="2156525"/>
            <a:ext cx="1812801" cy="595975"/>
          </a:xfrm>
          <a:prstGeom prst="rect">
            <a:avLst/>
          </a:prstGeom>
          <a:noFill/>
          <a:ln>
            <a:noFill/>
          </a:ln>
          <a:effectLst>
            <a:outerShdw blurRad="228600" rotWithShape="0" dir="5400000" dist="82779">
              <a:srgbClr val="000000">
                <a:alpha val="64314"/>
              </a:srgbClr>
            </a:outerShdw>
          </a:effectLst>
        </p:spPr>
      </p:pic>
      <p:pic>
        <p:nvPicPr>
          <p:cNvPr descr="Google Shape;305;p2" id="419" name="Google Shape;419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725" y="1999550"/>
            <a:ext cx="1081376" cy="1081376"/>
          </a:xfrm>
          <a:prstGeom prst="rect">
            <a:avLst/>
          </a:prstGeom>
          <a:noFill/>
          <a:ln>
            <a:noFill/>
          </a:ln>
          <a:effectLst>
            <a:outerShdw blurRad="228600" rotWithShape="0" dir="5400000" dist="82779">
              <a:srgbClr val="000000"/>
            </a:outerShdw>
          </a:effectLst>
        </p:spPr>
      </p:pic>
      <p:sp>
        <p:nvSpPr>
          <p:cNvPr id="420" name="Google Shape;420;p102"/>
          <p:cNvSpPr txBox="1"/>
          <p:nvPr/>
        </p:nvSpPr>
        <p:spPr>
          <a:xfrm>
            <a:off x="3079114" y="1588299"/>
            <a:ext cx="30030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Academy Software Foundation provides a neutral forum for open source software developers in the motion picture and broader media industries to share resources and collaborate on technologies for image creation, visual effects, animation and sound.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2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peach.png" id="425" name="Google Shape;42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03" title="Milestone Number"/>
          <p:cNvSpPr/>
          <p:nvPr/>
        </p:nvSpPr>
        <p:spPr>
          <a:xfrm>
            <a:off x="847551" y="465756"/>
            <a:ext cx="201000" cy="220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4350" rotWithShape="0" algn="tl" dir="2700000" dist="12175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3" title="Milestone Tall Arrow"/>
          <p:cNvSpPr/>
          <p:nvPr/>
        </p:nvSpPr>
        <p:spPr>
          <a:xfrm>
            <a:off x="819241" y="326189"/>
            <a:ext cx="318000" cy="3892200"/>
          </a:xfrm>
          <a:prstGeom prst="downArrow">
            <a:avLst>
              <a:gd fmla="val 100000" name="adj1"/>
              <a:gd fmla="val 50000" name="adj2"/>
            </a:avLst>
          </a:prstGeom>
          <a:gradFill>
            <a:gsLst>
              <a:gs pos="0">
                <a:srgbClr val="E8590E"/>
              </a:gs>
              <a:gs pos="100000">
                <a:srgbClr val="F2F2F2"/>
              </a:gs>
            </a:gsLst>
            <a:lin ang="5400700" scaled="0"/>
          </a:gradFill>
          <a:ln>
            <a:noFill/>
          </a:ln>
        </p:spPr>
        <p:txBody>
          <a:bodyPr anchorCtr="0" anchor="ctr" bIns="32850" lIns="65750" spcFirstLastPara="1" rIns="65750" wrap="square" tIns="3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p103"/>
          <p:cNvSpPr txBox="1"/>
          <p:nvPr/>
        </p:nvSpPr>
        <p:spPr>
          <a:xfrm>
            <a:off x="-218114" y="299156"/>
            <a:ext cx="9903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3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ASWF created</a:t>
            </a:r>
            <a:endParaRPr b="1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3"/>
          <p:cNvSpPr txBox="1"/>
          <p:nvPr/>
        </p:nvSpPr>
        <p:spPr>
          <a:xfrm>
            <a:off x="-87337" y="684346"/>
            <a:ext cx="847200" cy="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August 10, 2018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57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Founding members:</a:t>
            </a:r>
            <a:endParaRPr b="0" i="1" sz="6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Animal Logic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Autodesk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Blue Sky Studios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Cisco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DNEG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DreamWorks Animation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Epic Games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Foundry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Cloud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Intel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SideFX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Walt Disney Studios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Weta Digital</a:t>
            </a:r>
            <a:endParaRPr b="0" i="0" sz="8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0" name="Google Shape;430;p103" title="Milestone Arrow"/>
          <p:cNvSpPr/>
          <p:nvPr/>
        </p:nvSpPr>
        <p:spPr>
          <a:xfrm>
            <a:off x="1195527" y="2121073"/>
            <a:ext cx="297600" cy="2088600"/>
          </a:xfrm>
          <a:prstGeom prst="downArrow">
            <a:avLst>
              <a:gd fmla="val 100000" name="adj1"/>
              <a:gd fmla="val 50000" name="adj2"/>
            </a:avLst>
          </a:prstGeom>
          <a:gradFill>
            <a:gsLst>
              <a:gs pos="0">
                <a:srgbClr val="E8590E"/>
              </a:gs>
              <a:gs pos="100000">
                <a:srgbClr val="F2F2F2"/>
              </a:gs>
            </a:gsLst>
            <a:lin ang="5400700" scaled="0"/>
          </a:gradFill>
          <a:ln>
            <a:noFill/>
          </a:ln>
        </p:spPr>
        <p:txBody>
          <a:bodyPr anchorCtr="0" anchor="ctr" bIns="43800" lIns="87650" spcFirstLastPara="1" rIns="87650" wrap="square" tIns="43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1" name="Google Shape;431;p103" title="Milestone Number"/>
          <p:cNvSpPr/>
          <p:nvPr/>
        </p:nvSpPr>
        <p:spPr>
          <a:xfrm>
            <a:off x="1250382" y="2228060"/>
            <a:ext cx="187800" cy="1977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4350" rotWithShape="0" algn="tl" dir="2700000" dist="12175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103" title="Milestone Text"/>
          <p:cNvGrpSpPr/>
          <p:nvPr/>
        </p:nvGrpSpPr>
        <p:grpSpPr>
          <a:xfrm>
            <a:off x="1202538" y="602669"/>
            <a:ext cx="1087060" cy="502521"/>
            <a:chOff x="2084853" y="-1437412"/>
            <a:chExt cx="1718400" cy="754650"/>
          </a:xfrm>
        </p:grpSpPr>
        <p:sp>
          <p:nvSpPr>
            <p:cNvPr id="433" name="Google Shape;433;p103"/>
            <p:cNvSpPr txBox="1"/>
            <p:nvPr/>
          </p:nvSpPr>
          <p:spPr>
            <a:xfrm>
              <a:off x="2084853" y="-1437412"/>
              <a:ext cx="10998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First project</a:t>
              </a:r>
              <a:endParaRPr b="0" i="0" sz="110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3"/>
            <p:cNvSpPr txBox="1"/>
            <p:nvPr/>
          </p:nvSpPr>
          <p:spPr>
            <a:xfrm>
              <a:off x="2084853" y="-836662"/>
              <a:ext cx="1718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October 23,2018</a:t>
              </a:r>
              <a:endParaRPr b="0" i="0" sz="8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B4982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OpenVDB</a:t>
              </a:r>
              <a:endParaRPr b="1" i="0" sz="8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1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 members:</a:t>
              </a:r>
              <a:endParaRPr b="0" i="1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Sony Pictures Entertainment</a:t>
              </a:r>
              <a:endPara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Warner Bros.</a:t>
              </a:r>
              <a:endPara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Blender Foundation</a:t>
              </a:r>
              <a:endPara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Visual Effects Society</a:t>
              </a:r>
              <a:endPara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435" name="Google Shape;435;p103" title="Milestone 4"/>
          <p:cNvGrpSpPr/>
          <p:nvPr/>
        </p:nvGrpSpPr>
        <p:grpSpPr>
          <a:xfrm>
            <a:off x="1898261" y="2509564"/>
            <a:ext cx="975816" cy="1705269"/>
            <a:chOff x="5194569" y="2879132"/>
            <a:chExt cx="1542548" cy="2560848"/>
          </a:xfrm>
        </p:grpSpPr>
        <p:sp>
          <p:nvSpPr>
            <p:cNvPr id="436" name="Google Shape;436;p103" title="Milestone Arrow"/>
            <p:cNvSpPr/>
            <p:nvPr/>
          </p:nvSpPr>
          <p:spPr>
            <a:xfrm>
              <a:off x="5231026" y="4074980"/>
              <a:ext cx="470400" cy="13650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7" name="Google Shape;437;p103" title="Milestone Number"/>
            <p:cNvSpPr/>
            <p:nvPr/>
          </p:nvSpPr>
          <p:spPr>
            <a:xfrm>
              <a:off x="5317741" y="4203577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103" title="Milestone Text"/>
            <p:cNvGrpSpPr/>
            <p:nvPr/>
          </p:nvGrpSpPr>
          <p:grpSpPr>
            <a:xfrm>
              <a:off x="5194569" y="2879132"/>
              <a:ext cx="1542548" cy="559915"/>
              <a:chOff x="1900453" y="1419541"/>
              <a:chExt cx="1542548" cy="559915"/>
            </a:xfrm>
          </p:grpSpPr>
          <p:sp>
            <p:nvSpPr>
              <p:cNvPr id="439" name="Google Shape;439;p103"/>
              <p:cNvSpPr txBox="1"/>
              <p:nvPr/>
            </p:nvSpPr>
            <p:spPr>
              <a:xfrm>
                <a:off x="2097501" y="1702556"/>
                <a:ext cx="13455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03"/>
              <p:cNvSpPr txBox="1"/>
              <p:nvPr/>
            </p:nvSpPr>
            <p:spPr>
              <a:xfrm>
                <a:off x="1900467" y="1419541"/>
                <a:ext cx="12948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May 1 2019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00B0F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441" name="Google Shape;441;p103"/>
              <p:cNvSpPr txBox="1"/>
              <p:nvPr/>
            </p:nvSpPr>
            <p:spPr>
              <a:xfrm>
                <a:off x="1900453" y="1619351"/>
                <a:ext cx="1294800" cy="2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6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OpenEXR</a:t>
                </a:r>
                <a:endParaRPr b="1" i="0" sz="6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6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OpenCue</a:t>
                </a:r>
                <a:endParaRPr b="1" i="0" sz="6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"/>
                  <a:buFont typeface="Arial"/>
                  <a:buNone/>
                </a:pPr>
                <a:r>
                  <a:t/>
                </a:r>
                <a:endParaRPr b="0" i="0" sz="200" u="none" cap="none" strike="noStrike">
                  <a:solidFill>
                    <a:srgbClr val="B4982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NVIDIA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ftrack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Red Hat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grpSp>
        <p:nvGrpSpPr>
          <p:cNvPr id="442" name="Google Shape;442;p103" title="Milestone 3"/>
          <p:cNvGrpSpPr/>
          <p:nvPr/>
        </p:nvGrpSpPr>
        <p:grpSpPr>
          <a:xfrm>
            <a:off x="1553785" y="2150131"/>
            <a:ext cx="1087197" cy="2048065"/>
            <a:chOff x="3350604" y="2363462"/>
            <a:chExt cx="1718617" cy="3075635"/>
          </a:xfrm>
        </p:grpSpPr>
        <p:sp>
          <p:nvSpPr>
            <p:cNvPr id="443" name="Google Shape;443;p103" title="Milestone Arrow"/>
            <p:cNvSpPr/>
            <p:nvPr/>
          </p:nvSpPr>
          <p:spPr>
            <a:xfrm>
              <a:off x="3350604" y="2911597"/>
              <a:ext cx="470400" cy="25275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44" name="Google Shape;444;p103" title="Milestone Number"/>
            <p:cNvSpPr/>
            <p:nvPr/>
          </p:nvSpPr>
          <p:spPr>
            <a:xfrm>
              <a:off x="3442121" y="3049950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3"/>
            <p:cNvSpPr txBox="1"/>
            <p:nvPr/>
          </p:nvSpPr>
          <p:spPr>
            <a:xfrm>
              <a:off x="3350821" y="2363462"/>
              <a:ext cx="1718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Feb 8, 2019</a:t>
              </a:r>
              <a:endParaRPr b="0" i="0" sz="8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B4982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OpenColorIO</a:t>
              </a:r>
              <a:endParaRPr b="1" i="0" sz="8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B4982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B4982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446" name="Google Shape;446;p103" title="Milestone 3"/>
          <p:cNvGrpSpPr/>
          <p:nvPr/>
        </p:nvGrpSpPr>
        <p:grpSpPr>
          <a:xfrm>
            <a:off x="2282587" y="615700"/>
            <a:ext cx="1088144" cy="3594367"/>
            <a:chOff x="3222037" y="41689"/>
            <a:chExt cx="1720114" cy="5397758"/>
          </a:xfrm>
        </p:grpSpPr>
        <p:sp>
          <p:nvSpPr>
            <p:cNvPr id="447" name="Google Shape;447;p103" title="Milestone Arrow"/>
            <p:cNvSpPr/>
            <p:nvPr/>
          </p:nvSpPr>
          <p:spPr>
            <a:xfrm>
              <a:off x="3222037" y="1923747"/>
              <a:ext cx="470400" cy="35157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48" name="Google Shape;448;p103" title="Milestone Number"/>
            <p:cNvSpPr/>
            <p:nvPr/>
          </p:nvSpPr>
          <p:spPr>
            <a:xfrm>
              <a:off x="3308744" y="2078215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103" title="Milestone Text"/>
            <p:cNvGrpSpPr/>
            <p:nvPr/>
          </p:nvGrpSpPr>
          <p:grpSpPr>
            <a:xfrm>
              <a:off x="3223751" y="41689"/>
              <a:ext cx="1718400" cy="777640"/>
              <a:chOff x="1884312" y="-1417902"/>
              <a:chExt cx="1718400" cy="777640"/>
            </a:xfrm>
          </p:grpSpPr>
          <p:sp>
            <p:nvSpPr>
              <p:cNvPr id="450" name="Google Shape;450;p103"/>
              <p:cNvSpPr txBox="1"/>
              <p:nvPr/>
            </p:nvSpPr>
            <p:spPr>
              <a:xfrm>
                <a:off x="1884312" y="-1417902"/>
                <a:ext cx="1609200" cy="5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11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Day 2019</a:t>
                </a:r>
                <a:endParaRPr b="0" i="0" sz="1100" u="none" cap="none" strike="noStrike">
                  <a:solidFill>
                    <a:srgbClr val="FFD9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03"/>
              <p:cNvSpPr txBox="1"/>
              <p:nvPr/>
            </p:nvSpPr>
            <p:spPr>
              <a:xfrm>
                <a:off x="1884312" y="-794162"/>
                <a:ext cx="1718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July 29, 2019</a:t>
                </a:r>
                <a:endParaRPr b="0" i="0" sz="8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"/>
                  <a:buFont typeface="Arial"/>
                  <a:buNone/>
                </a:pPr>
                <a:r>
                  <a:t/>
                </a:r>
                <a:endParaRPr b="0" i="0" sz="200" u="none" cap="none" strike="noStrike">
                  <a:solidFill>
                    <a:srgbClr val="4EB7C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OpenTimelineIO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"/>
                  <a:buFont typeface="Arial"/>
                  <a:buNone/>
                </a:pPr>
                <a:r>
                  <a:t/>
                </a:r>
                <a:endParaRPr b="0" i="0" sz="2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Netflix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Amazon Web Services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Rodeo FX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MovieLabs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452" name="Google Shape;452;p103" title="Milestone Arrow"/>
          <p:cNvSpPr/>
          <p:nvPr/>
        </p:nvSpPr>
        <p:spPr>
          <a:xfrm>
            <a:off x="2657854" y="2443727"/>
            <a:ext cx="297600" cy="1754400"/>
          </a:xfrm>
          <a:prstGeom prst="downArrow">
            <a:avLst>
              <a:gd fmla="val 100000" name="adj1"/>
              <a:gd fmla="val 50000" name="adj2"/>
            </a:avLst>
          </a:prstGeom>
          <a:gradFill>
            <a:gsLst>
              <a:gs pos="0">
                <a:srgbClr val="E8590E"/>
              </a:gs>
              <a:gs pos="100000">
                <a:srgbClr val="F2F2F2"/>
              </a:gs>
            </a:gsLst>
            <a:lin ang="5400700" scaled="0"/>
          </a:gradFill>
          <a:ln>
            <a:noFill/>
          </a:ln>
        </p:spPr>
        <p:txBody>
          <a:bodyPr anchorCtr="0" anchor="ctr" bIns="43800" lIns="87650" spcFirstLastPara="1" rIns="87650" wrap="square" tIns="43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3" name="Google Shape;453;p103" title="Milestone Number"/>
          <p:cNvSpPr/>
          <p:nvPr/>
        </p:nvSpPr>
        <p:spPr>
          <a:xfrm>
            <a:off x="2720491" y="2555605"/>
            <a:ext cx="187800" cy="1977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4350" rotWithShape="0" algn="tl" dir="2700000" dist="12175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3"/>
          <p:cNvSpPr txBox="1"/>
          <p:nvPr/>
        </p:nvSpPr>
        <p:spPr>
          <a:xfrm>
            <a:off x="2655324" y="1862149"/>
            <a:ext cx="689700" cy="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Sept 13</a:t>
            </a:r>
            <a:endParaRPr b="0" i="0" sz="800" u="none" cap="none" strike="noStrike">
              <a:solidFill>
                <a:srgbClr val="FFD96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2019</a:t>
            </a:r>
            <a:endParaRPr b="0" i="0" sz="800" u="none" cap="none" strike="noStrike">
              <a:solidFill>
                <a:srgbClr val="FFD96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B4982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665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</a:t>
            </a:r>
            <a:endParaRPr b="0" i="0" sz="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57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Microsoft</a:t>
            </a:r>
            <a:endParaRPr b="0" i="0" sz="6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B4982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B4982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55" name="Google Shape;455;p103" title="Milestone 3"/>
          <p:cNvGrpSpPr/>
          <p:nvPr/>
        </p:nvGrpSpPr>
        <p:grpSpPr>
          <a:xfrm>
            <a:off x="3028508" y="1631989"/>
            <a:ext cx="351852" cy="2572582"/>
            <a:chOff x="3360040" y="1779237"/>
            <a:chExt cx="556200" cy="3863316"/>
          </a:xfrm>
        </p:grpSpPr>
        <p:sp>
          <p:nvSpPr>
            <p:cNvPr id="456" name="Google Shape;456;p103" title="Milestone Arrow"/>
            <p:cNvSpPr/>
            <p:nvPr/>
          </p:nvSpPr>
          <p:spPr>
            <a:xfrm>
              <a:off x="3360040" y="3114153"/>
              <a:ext cx="470400" cy="25284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57" name="Google Shape;457;p103" title="Milestone Number"/>
            <p:cNvSpPr/>
            <p:nvPr/>
          </p:nvSpPr>
          <p:spPr>
            <a:xfrm>
              <a:off x="3446741" y="3369142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3"/>
            <p:cNvSpPr txBox="1"/>
            <p:nvPr/>
          </p:nvSpPr>
          <p:spPr>
            <a:xfrm>
              <a:off x="3360040" y="1779237"/>
              <a:ext cx="556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Apr 16</a:t>
              </a:r>
              <a:endParaRPr b="0" i="0" sz="8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2020</a:t>
              </a:r>
              <a:endParaRPr b="0" i="0" sz="8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 </a:t>
              </a:r>
              <a:endParaRPr b="1" i="0" sz="6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Shading </a:t>
              </a:r>
              <a:endParaRPr b="1" i="0" sz="6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Language</a:t>
              </a:r>
              <a:endParaRPr b="1" i="0" sz="6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3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AMD</a:t>
              </a:r>
              <a:endPara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DockYard</a:t>
              </a:r>
              <a:endParaRPr b="0" i="0" sz="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D96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459" name="Google Shape;459;p103"/>
          <p:cNvGrpSpPr/>
          <p:nvPr/>
        </p:nvGrpSpPr>
        <p:grpSpPr>
          <a:xfrm>
            <a:off x="3378505" y="684346"/>
            <a:ext cx="856565" cy="3519789"/>
            <a:chOff x="6927798" y="769087"/>
            <a:chExt cx="1254122" cy="4895395"/>
          </a:xfrm>
        </p:grpSpPr>
        <p:grpSp>
          <p:nvGrpSpPr>
            <p:cNvPr id="460" name="Google Shape;460;p103"/>
            <p:cNvGrpSpPr/>
            <p:nvPr/>
          </p:nvGrpSpPr>
          <p:grpSpPr>
            <a:xfrm>
              <a:off x="6927798" y="769087"/>
              <a:ext cx="1254122" cy="4895395"/>
              <a:chOff x="7613598" y="769087"/>
              <a:chExt cx="1254122" cy="4895395"/>
            </a:xfrm>
          </p:grpSpPr>
          <p:sp>
            <p:nvSpPr>
              <p:cNvPr id="461" name="Google Shape;461;p103" title="Milestone Arrow"/>
              <p:cNvSpPr/>
              <p:nvPr/>
            </p:nvSpPr>
            <p:spPr>
              <a:xfrm>
                <a:off x="7639239" y="2242082"/>
                <a:ext cx="435600" cy="3422400"/>
              </a:xfrm>
              <a:prstGeom prst="downArrow">
                <a:avLst>
                  <a:gd fmla="val 100000" name="adj1"/>
                  <a:gd fmla="val 50000" name="adj2"/>
                </a:avLst>
              </a:prstGeom>
              <a:gradFill>
                <a:gsLst>
                  <a:gs pos="0">
                    <a:srgbClr val="E8590E"/>
                  </a:gs>
                  <a:gs pos="100000">
                    <a:srgbClr val="F2F2F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43800" lIns="87650" spcFirstLastPara="1" rIns="87650" wrap="square" tIns="43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grpSp>
            <p:nvGrpSpPr>
              <p:cNvPr id="462" name="Google Shape;462;p103" title="Milestone Text"/>
              <p:cNvGrpSpPr/>
              <p:nvPr/>
            </p:nvGrpSpPr>
            <p:grpSpPr>
              <a:xfrm>
                <a:off x="7613598" y="769087"/>
                <a:ext cx="1254122" cy="586671"/>
                <a:chOff x="2055394" y="-934866"/>
                <a:chExt cx="1354197" cy="611243"/>
              </a:xfrm>
            </p:grpSpPr>
            <p:sp>
              <p:nvSpPr>
                <p:cNvPr id="463" name="Google Shape;463;p103"/>
                <p:cNvSpPr txBox="1"/>
                <p:nvPr/>
              </p:nvSpPr>
              <p:spPr>
                <a:xfrm>
                  <a:off x="2055394" y="-934866"/>
                  <a:ext cx="1339500" cy="55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000" u="none" cap="none" strike="noStrike">
                      <a:solidFill>
                        <a:srgbClr val="000000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Open Source Days 2020</a:t>
                  </a:r>
                  <a:endParaRPr b="0" i="0" sz="1000" u="none" cap="none" strike="noStrike">
                    <a:solidFill>
                      <a:srgbClr val="FFD96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103"/>
                <p:cNvSpPr txBox="1"/>
                <p:nvPr/>
              </p:nvSpPr>
              <p:spPr>
                <a:xfrm>
                  <a:off x="2070091" y="-477523"/>
                  <a:ext cx="13395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Aug 19-20 2020</a:t>
                  </a:r>
                  <a:endParaRPr b="0" i="0" sz="800" u="none" cap="none" strike="noStrike">
                    <a:solidFill>
                      <a:srgbClr val="FFD966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"/>
                    <a:buFont typeface="Arial"/>
                    <a:buNone/>
                  </a:pPr>
                  <a:r>
                    <a:t/>
                  </a:r>
                  <a:endParaRPr b="0" i="0" sz="200" u="none" cap="none" strike="noStrike">
                    <a:solidFill>
                      <a:srgbClr val="4EB7C5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"/>
                    <a:buFont typeface="Arial"/>
                    <a:buNone/>
                  </a:pPr>
                  <a:r>
                    <a:t/>
                  </a:r>
                  <a:endParaRPr b="0" i="0" sz="200" u="none" cap="none" strike="noStrik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Unity </a:t>
                  </a:r>
                  <a:endParaRPr b="0" i="0" sz="800" u="none" cap="none" strike="noStrik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Conductor Technologies</a:t>
                  </a:r>
                  <a:endParaRPr b="0" i="0" sz="800" u="none" cap="none" strike="noStrik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SMPTE</a:t>
                  </a:r>
                  <a:endParaRPr b="0" i="0" sz="800" u="none" cap="none" strike="noStrik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endParaRPr>
                </a:p>
              </p:txBody>
            </p:sp>
          </p:grpSp>
        </p:grpSp>
        <p:sp>
          <p:nvSpPr>
            <p:cNvPr id="465" name="Google Shape;465;p103" title="Milestone Number"/>
            <p:cNvSpPr/>
            <p:nvPr/>
          </p:nvSpPr>
          <p:spPr>
            <a:xfrm>
              <a:off x="7044368" y="2405066"/>
              <a:ext cx="275400" cy="275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103"/>
          <p:cNvGrpSpPr/>
          <p:nvPr/>
        </p:nvGrpSpPr>
        <p:grpSpPr>
          <a:xfrm>
            <a:off x="101584" y="2820890"/>
            <a:ext cx="519033" cy="1370816"/>
            <a:chOff x="1439424" y="3403934"/>
            <a:chExt cx="820476" cy="2058591"/>
          </a:xfrm>
        </p:grpSpPr>
        <p:grpSp>
          <p:nvGrpSpPr>
            <p:cNvPr id="467" name="Google Shape;467;p103"/>
            <p:cNvGrpSpPr/>
            <p:nvPr/>
          </p:nvGrpSpPr>
          <p:grpSpPr>
            <a:xfrm>
              <a:off x="1439424" y="3945707"/>
              <a:ext cx="818400" cy="1516818"/>
              <a:chOff x="96469" y="3863942"/>
              <a:chExt cx="818400" cy="1516818"/>
            </a:xfrm>
          </p:grpSpPr>
          <p:sp>
            <p:nvSpPr>
              <p:cNvPr id="468" name="Google Shape;468;p103" title="Milestone Arrow"/>
              <p:cNvSpPr/>
              <p:nvPr/>
            </p:nvSpPr>
            <p:spPr>
              <a:xfrm>
                <a:off x="436075" y="4782860"/>
                <a:ext cx="470400" cy="597900"/>
              </a:xfrm>
              <a:prstGeom prst="downArrow">
                <a:avLst>
                  <a:gd fmla="val 100000" name="adj1"/>
                  <a:gd fmla="val 50000" name="adj2"/>
                </a:avLst>
              </a:prstGeom>
              <a:solidFill>
                <a:srgbClr val="C9AD67"/>
              </a:solidFill>
              <a:ln>
                <a:noFill/>
              </a:ln>
            </p:spPr>
            <p:txBody>
              <a:bodyPr anchorCtr="0" anchor="ctr" bIns="43800" lIns="87650" spcFirstLastPara="1" rIns="87650" wrap="square" tIns="43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grpSp>
            <p:nvGrpSpPr>
              <p:cNvPr id="469" name="Google Shape;469;p103" title="Milestone Text"/>
              <p:cNvGrpSpPr/>
              <p:nvPr/>
            </p:nvGrpSpPr>
            <p:grpSpPr>
              <a:xfrm>
                <a:off x="96469" y="3863942"/>
                <a:ext cx="818400" cy="872733"/>
                <a:chOff x="1147427" y="3655833"/>
                <a:chExt cx="818400" cy="872733"/>
              </a:xfrm>
            </p:grpSpPr>
            <p:sp>
              <p:nvSpPr>
                <p:cNvPr id="470" name="Google Shape;470;p103"/>
                <p:cNvSpPr txBox="1"/>
                <p:nvPr/>
              </p:nvSpPr>
              <p:spPr>
                <a:xfrm>
                  <a:off x="1147427" y="4066866"/>
                  <a:ext cx="8184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rgbClr val="C9AD67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Open source</a:t>
                  </a:r>
                  <a:endParaRPr b="0" i="0" sz="1200" u="none" cap="none" strike="noStrike">
                    <a:solidFill>
                      <a:srgbClr val="C9AD6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rgbClr val="C9AD67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Investigation </a:t>
                  </a:r>
                  <a:endParaRPr b="0" i="0" sz="1200" u="none" cap="none" strike="noStrike">
                    <a:solidFill>
                      <a:srgbClr val="C9AD6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rgbClr val="C9AD67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conclude</a:t>
                  </a:r>
                  <a:r>
                    <a:rPr b="0" i="0" lang="en" sz="600" u="none" cap="none" strike="noStrike">
                      <a:solidFill>
                        <a:srgbClr val="E8590E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s</a:t>
                  </a:r>
                  <a:endParaRPr b="0" i="0" sz="1200" u="none" cap="none" strike="noStrike">
                    <a:solidFill>
                      <a:srgbClr val="B498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03"/>
                <p:cNvSpPr txBox="1"/>
                <p:nvPr/>
              </p:nvSpPr>
              <p:spPr>
                <a:xfrm>
                  <a:off x="1326502" y="3655833"/>
                  <a:ext cx="623700" cy="43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C9AD67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Scitech </a:t>
                  </a:r>
                  <a:endParaRPr b="0" i="0" sz="1200" u="none" cap="none" strike="noStrike">
                    <a:solidFill>
                      <a:srgbClr val="C9AD6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C9AD67"/>
                      </a:solidFill>
                      <a:latin typeface="Trebuchet MS"/>
                      <a:ea typeface="Trebuchet MS"/>
                      <a:cs typeface="Trebuchet MS"/>
                      <a:sym typeface="Trebuchet MS"/>
                    </a:rPr>
                    <a:t>Council</a:t>
                  </a:r>
                  <a:endParaRPr b="0" i="0" sz="1200" u="none" cap="none" strike="noStrike">
                    <a:solidFill>
                      <a:srgbClr val="C9AD6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472" name="Google Shape;472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76600" y="3403934"/>
              <a:ext cx="483300" cy="48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3" name="Google Shape;473;p103"/>
          <p:cNvGrpSpPr/>
          <p:nvPr/>
        </p:nvGrpSpPr>
        <p:grpSpPr>
          <a:xfrm>
            <a:off x="4147996" y="417828"/>
            <a:ext cx="462033" cy="3798403"/>
            <a:chOff x="8860614" y="-232088"/>
            <a:chExt cx="730371" cy="5704164"/>
          </a:xfrm>
        </p:grpSpPr>
        <p:sp>
          <p:nvSpPr>
            <p:cNvPr id="474" name="Google Shape;474;p103" title="Milestone Arrow"/>
            <p:cNvSpPr/>
            <p:nvPr/>
          </p:nvSpPr>
          <p:spPr>
            <a:xfrm>
              <a:off x="8872466" y="1476676"/>
              <a:ext cx="470400" cy="39954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475" name="Google Shape;475;p103" title="Milestone Text"/>
            <p:cNvGrpSpPr/>
            <p:nvPr/>
          </p:nvGrpSpPr>
          <p:grpSpPr>
            <a:xfrm>
              <a:off x="8860614" y="-232088"/>
              <a:ext cx="730371" cy="1017135"/>
              <a:chOff x="2013962" y="-1338381"/>
              <a:chExt cx="730371" cy="981412"/>
            </a:xfrm>
          </p:grpSpPr>
          <p:sp>
            <p:nvSpPr>
              <p:cNvPr id="476" name="Google Shape;476;p103"/>
              <p:cNvSpPr txBox="1"/>
              <p:nvPr/>
            </p:nvSpPr>
            <p:spPr>
              <a:xfrm>
                <a:off x="2030633" y="-1338381"/>
                <a:ext cx="713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</a:t>
                </a:r>
                <a:endParaRPr b="0" i="0" sz="9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Source</a:t>
                </a:r>
                <a:endParaRPr b="0" i="0" sz="9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Days </a:t>
                </a:r>
                <a:endParaRPr b="0" i="0" sz="9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2021</a:t>
                </a:r>
                <a:endParaRPr b="0" i="0" sz="900" u="none" cap="none" strike="noStrike">
                  <a:solidFill>
                    <a:srgbClr val="FFD96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03"/>
              <p:cNvSpPr txBox="1"/>
              <p:nvPr/>
            </p:nvSpPr>
            <p:spPr>
              <a:xfrm>
                <a:off x="2013962" y="-510869"/>
                <a:ext cx="671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Aug  4-5 </a:t>
                </a:r>
                <a:endParaRPr b="0" i="0" sz="8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2021</a:t>
                </a:r>
                <a:endParaRPr b="0" i="0" sz="200" u="none" cap="none" strike="noStrike">
                  <a:solidFill>
                    <a:srgbClr val="4EB7C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BA461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MaterialX</a:t>
                </a:r>
                <a:endParaRPr b="1" i="0" sz="7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Maxon</a:t>
                </a: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478" name="Google Shape;478;p103" title="Milestone Number"/>
            <p:cNvSpPr/>
            <p:nvPr/>
          </p:nvSpPr>
          <p:spPr>
            <a:xfrm>
              <a:off x="8955720" y="1611430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103"/>
          <p:cNvSpPr txBox="1"/>
          <p:nvPr/>
        </p:nvSpPr>
        <p:spPr>
          <a:xfrm>
            <a:off x="1172238" y="4441151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3"/>
          <p:cNvSpPr txBox="1"/>
          <p:nvPr/>
        </p:nvSpPr>
        <p:spPr>
          <a:xfrm>
            <a:off x="1529269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3"/>
          <p:cNvSpPr txBox="1"/>
          <p:nvPr/>
        </p:nvSpPr>
        <p:spPr>
          <a:xfrm>
            <a:off x="1907566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3"/>
          <p:cNvSpPr txBox="1"/>
          <p:nvPr/>
        </p:nvSpPr>
        <p:spPr>
          <a:xfrm>
            <a:off x="2210166" y="4448783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3"/>
          <p:cNvSpPr txBox="1"/>
          <p:nvPr/>
        </p:nvSpPr>
        <p:spPr>
          <a:xfrm>
            <a:off x="2614887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3"/>
          <p:cNvSpPr txBox="1"/>
          <p:nvPr/>
        </p:nvSpPr>
        <p:spPr>
          <a:xfrm>
            <a:off x="2922477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3"/>
          <p:cNvSpPr txBox="1"/>
          <p:nvPr/>
        </p:nvSpPr>
        <p:spPr>
          <a:xfrm>
            <a:off x="3333407" y="4448783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103"/>
          <p:cNvCxnSpPr/>
          <p:nvPr/>
        </p:nvCxnSpPr>
        <p:spPr>
          <a:xfrm>
            <a:off x="194638" y="4362319"/>
            <a:ext cx="8709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87" name="Google Shape;487;p103"/>
          <p:cNvCxnSpPr/>
          <p:nvPr/>
        </p:nvCxnSpPr>
        <p:spPr>
          <a:xfrm>
            <a:off x="1322925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88" name="Google Shape;488;p103"/>
          <p:cNvCxnSpPr/>
          <p:nvPr/>
        </p:nvCxnSpPr>
        <p:spPr>
          <a:xfrm>
            <a:off x="1691770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89" name="Google Shape;489;p103"/>
          <p:cNvCxnSpPr/>
          <p:nvPr/>
        </p:nvCxnSpPr>
        <p:spPr>
          <a:xfrm>
            <a:off x="2080036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90" name="Google Shape;490;p103"/>
          <p:cNvCxnSpPr/>
          <p:nvPr/>
        </p:nvCxnSpPr>
        <p:spPr>
          <a:xfrm>
            <a:off x="2802287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91" name="Google Shape;491;p103"/>
          <p:cNvCxnSpPr/>
          <p:nvPr/>
        </p:nvCxnSpPr>
        <p:spPr>
          <a:xfrm>
            <a:off x="3517796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92" name="Google Shape;492;p103"/>
          <p:cNvCxnSpPr/>
          <p:nvPr/>
        </p:nvCxnSpPr>
        <p:spPr>
          <a:xfrm>
            <a:off x="4284649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493" name="Google Shape;493;p103"/>
          <p:cNvSpPr txBox="1"/>
          <p:nvPr/>
        </p:nvSpPr>
        <p:spPr>
          <a:xfrm>
            <a:off x="3788331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03"/>
          <p:cNvSpPr txBox="1"/>
          <p:nvPr/>
        </p:nvSpPr>
        <p:spPr>
          <a:xfrm>
            <a:off x="940517" y="47037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03"/>
          <p:cNvSpPr txBox="1"/>
          <p:nvPr/>
        </p:nvSpPr>
        <p:spPr>
          <a:xfrm>
            <a:off x="1985514" y="47037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03"/>
          <p:cNvSpPr txBox="1"/>
          <p:nvPr/>
        </p:nvSpPr>
        <p:spPr>
          <a:xfrm>
            <a:off x="3102907" y="47037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103"/>
          <p:cNvCxnSpPr/>
          <p:nvPr/>
        </p:nvCxnSpPr>
        <p:spPr>
          <a:xfrm>
            <a:off x="464866" y="426203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98" name="Google Shape;498;p103"/>
          <p:cNvCxnSpPr/>
          <p:nvPr/>
        </p:nvCxnSpPr>
        <p:spPr>
          <a:xfrm>
            <a:off x="4660905" y="426203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499" name="Google Shape;499;p103"/>
          <p:cNvSpPr txBox="1"/>
          <p:nvPr/>
        </p:nvSpPr>
        <p:spPr>
          <a:xfrm>
            <a:off x="4152295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3"/>
          <p:cNvSpPr txBox="1"/>
          <p:nvPr/>
        </p:nvSpPr>
        <p:spPr>
          <a:xfrm>
            <a:off x="3895525" y="47037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03"/>
          <p:cNvSpPr txBox="1"/>
          <p:nvPr/>
        </p:nvSpPr>
        <p:spPr>
          <a:xfrm>
            <a:off x="4567794" y="4703738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3"/>
          <p:cNvSpPr txBox="1"/>
          <p:nvPr/>
        </p:nvSpPr>
        <p:spPr>
          <a:xfrm>
            <a:off x="4810364" y="4449629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3"/>
          <p:cNvSpPr txBox="1"/>
          <p:nvPr/>
        </p:nvSpPr>
        <p:spPr>
          <a:xfrm>
            <a:off x="5280316" y="4448783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p103"/>
          <p:cNvCxnSpPr/>
          <p:nvPr/>
        </p:nvCxnSpPr>
        <p:spPr>
          <a:xfrm>
            <a:off x="5429857" y="4267360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grpSp>
        <p:nvGrpSpPr>
          <p:cNvPr id="505" name="Google Shape;505;p103"/>
          <p:cNvGrpSpPr/>
          <p:nvPr/>
        </p:nvGrpSpPr>
        <p:grpSpPr>
          <a:xfrm>
            <a:off x="4559987" y="274426"/>
            <a:ext cx="789105" cy="3951254"/>
            <a:chOff x="8907688" y="-461556"/>
            <a:chExt cx="1247400" cy="5933704"/>
          </a:xfrm>
        </p:grpSpPr>
        <p:sp>
          <p:nvSpPr>
            <p:cNvPr id="506" name="Google Shape;506;p103" title="Milestone Arrow"/>
            <p:cNvSpPr/>
            <p:nvPr/>
          </p:nvSpPr>
          <p:spPr>
            <a:xfrm>
              <a:off x="8929718" y="877648"/>
              <a:ext cx="470400" cy="45945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07" name="Google Shape;507;p103" title="Milestone Text"/>
            <p:cNvGrpSpPr/>
            <p:nvPr/>
          </p:nvGrpSpPr>
          <p:grpSpPr>
            <a:xfrm>
              <a:off x="8907688" y="-461556"/>
              <a:ext cx="1247400" cy="607016"/>
              <a:chOff x="2061036" y="-1559790"/>
              <a:chExt cx="1247400" cy="585697"/>
            </a:xfrm>
          </p:grpSpPr>
          <p:sp>
            <p:nvSpPr>
              <p:cNvPr id="508" name="Google Shape;508;p103"/>
              <p:cNvSpPr txBox="1"/>
              <p:nvPr/>
            </p:nvSpPr>
            <p:spPr>
              <a:xfrm>
                <a:off x="2061036" y="-1559790"/>
                <a:ext cx="1247400" cy="1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9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Forum 2022</a:t>
                </a:r>
                <a:endParaRPr b="0" i="0" sz="9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09" name="Google Shape;509;p103"/>
              <p:cNvSpPr txBox="1"/>
              <p:nvPr/>
            </p:nvSpPr>
            <p:spPr>
              <a:xfrm>
                <a:off x="2071210" y="-1127993"/>
                <a:ext cx="10902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March 10,2022</a:t>
                </a:r>
                <a:endParaRPr b="0" i="0" sz="2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BA461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Raw2ACES</a:t>
                </a:r>
                <a:endParaRPr b="1" i="0" sz="7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Rez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DPEL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10" name="Google Shape;510;p103" title="Milestone Number"/>
            <p:cNvSpPr/>
            <p:nvPr/>
          </p:nvSpPr>
          <p:spPr>
            <a:xfrm>
              <a:off x="9007886" y="1042294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103"/>
          <p:cNvGrpSpPr/>
          <p:nvPr/>
        </p:nvGrpSpPr>
        <p:grpSpPr>
          <a:xfrm>
            <a:off x="3771566" y="1806163"/>
            <a:ext cx="424734" cy="2397985"/>
            <a:chOff x="7546968" y="2329333"/>
            <a:chExt cx="621866" cy="3335167"/>
          </a:xfrm>
        </p:grpSpPr>
        <p:grpSp>
          <p:nvGrpSpPr>
            <p:cNvPr id="512" name="Google Shape;512;p103"/>
            <p:cNvGrpSpPr/>
            <p:nvPr/>
          </p:nvGrpSpPr>
          <p:grpSpPr>
            <a:xfrm>
              <a:off x="7546968" y="2329333"/>
              <a:ext cx="621866" cy="3335167"/>
              <a:chOff x="8613768" y="2329333"/>
              <a:chExt cx="621866" cy="3335167"/>
            </a:xfrm>
          </p:grpSpPr>
          <p:sp>
            <p:nvSpPr>
              <p:cNvPr id="513" name="Google Shape;513;p103" title="Milestone Arrow"/>
              <p:cNvSpPr/>
              <p:nvPr/>
            </p:nvSpPr>
            <p:spPr>
              <a:xfrm>
                <a:off x="8613768" y="3133100"/>
                <a:ext cx="435600" cy="2531400"/>
              </a:xfrm>
              <a:prstGeom prst="downArrow">
                <a:avLst>
                  <a:gd fmla="val 100000" name="adj1"/>
                  <a:gd fmla="val 50000" name="adj2"/>
                </a:avLst>
              </a:prstGeom>
              <a:gradFill>
                <a:gsLst>
                  <a:gs pos="0">
                    <a:srgbClr val="E8590E"/>
                  </a:gs>
                  <a:gs pos="100000">
                    <a:srgbClr val="F2F2F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43800" lIns="87650" spcFirstLastPara="1" rIns="87650" wrap="square" tIns="43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14" name="Google Shape;514;p103"/>
              <p:cNvSpPr txBox="1"/>
              <p:nvPr/>
            </p:nvSpPr>
            <p:spPr>
              <a:xfrm>
                <a:off x="8616434" y="2329333"/>
                <a:ext cx="619200" cy="38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Dec. 15</a:t>
                </a:r>
                <a:endParaRPr b="0" i="0" sz="1100" u="none" cap="none" strike="noStrike">
                  <a:solidFill>
                    <a:srgbClr val="FFD9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2020</a:t>
                </a:r>
                <a:endParaRPr b="0" i="0" sz="8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Adobe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ETC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15" name="Google Shape;515;p103" title="Milestone Number"/>
            <p:cNvSpPr/>
            <p:nvPr/>
          </p:nvSpPr>
          <p:spPr>
            <a:xfrm>
              <a:off x="7627497" y="3280728"/>
              <a:ext cx="275100" cy="275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516;p103" title="Milestone 3"/>
          <p:cNvGrpSpPr/>
          <p:nvPr/>
        </p:nvGrpSpPr>
        <p:grpSpPr>
          <a:xfrm>
            <a:off x="4925136" y="853641"/>
            <a:ext cx="795479" cy="3368276"/>
            <a:chOff x="3264973" y="381017"/>
            <a:chExt cx="1257476" cy="5058231"/>
          </a:xfrm>
        </p:grpSpPr>
        <p:sp>
          <p:nvSpPr>
            <p:cNvPr id="517" name="Google Shape;517;p103" title="Milestone Arrow"/>
            <p:cNvSpPr/>
            <p:nvPr/>
          </p:nvSpPr>
          <p:spPr>
            <a:xfrm>
              <a:off x="3275133" y="2226548"/>
              <a:ext cx="470400" cy="32127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8" name="Google Shape;518;p103" title="Milestone Number"/>
            <p:cNvSpPr/>
            <p:nvPr/>
          </p:nvSpPr>
          <p:spPr>
            <a:xfrm>
              <a:off x="3361849" y="2360183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9" name="Google Shape;519;p103" title="Milestone Text"/>
            <p:cNvGrpSpPr/>
            <p:nvPr/>
          </p:nvGrpSpPr>
          <p:grpSpPr>
            <a:xfrm>
              <a:off x="3264973" y="381017"/>
              <a:ext cx="1257476" cy="563771"/>
              <a:chOff x="1925534" y="-1078573"/>
              <a:chExt cx="1257476" cy="563771"/>
            </a:xfrm>
          </p:grpSpPr>
          <p:sp>
            <p:nvSpPr>
              <p:cNvPr id="520" name="Google Shape;520;p103"/>
              <p:cNvSpPr txBox="1"/>
              <p:nvPr/>
            </p:nvSpPr>
            <p:spPr>
              <a:xfrm>
                <a:off x="1925534" y="-1078573"/>
                <a:ext cx="1120200" cy="5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9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Days 2022</a:t>
                </a:r>
                <a:endParaRPr b="0" i="0" sz="900" u="none" cap="none" strike="noStrike">
                  <a:solidFill>
                    <a:srgbClr val="FFD9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03"/>
              <p:cNvSpPr txBox="1"/>
              <p:nvPr/>
            </p:nvSpPr>
            <p:spPr>
              <a:xfrm>
                <a:off x="1937410" y="-668702"/>
                <a:ext cx="12456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August 8-9</a:t>
                </a:r>
                <a:endParaRPr b="0" i="0" sz="200" u="none" cap="none" strike="noStrike">
                  <a:solidFill>
                    <a:srgbClr val="4EB7C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OpenFX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OpenAssetIO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Review 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Initiative</a:t>
                </a:r>
                <a:endParaRPr b="1" i="0" sz="8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Canonical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Khronos Group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cxnSp>
        <p:nvCxnSpPr>
          <p:cNvPr id="522" name="Google Shape;522;p103"/>
          <p:cNvCxnSpPr/>
          <p:nvPr/>
        </p:nvCxnSpPr>
        <p:spPr>
          <a:xfrm>
            <a:off x="2449608" y="4262030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523" name="Google Shape;523;p103"/>
          <p:cNvCxnSpPr/>
          <p:nvPr/>
        </p:nvCxnSpPr>
        <p:spPr>
          <a:xfrm>
            <a:off x="3946493" y="4262030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524" name="Google Shape;524;p103"/>
          <p:cNvCxnSpPr/>
          <p:nvPr/>
        </p:nvCxnSpPr>
        <p:spPr>
          <a:xfrm>
            <a:off x="5037271" y="4254962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525" name="Google Shape;525;p103"/>
          <p:cNvCxnSpPr/>
          <p:nvPr/>
        </p:nvCxnSpPr>
        <p:spPr>
          <a:xfrm>
            <a:off x="5885704" y="4254954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26" name="Google Shape;526;p103" title="Milestone Number"/>
          <p:cNvSpPr/>
          <p:nvPr/>
        </p:nvSpPr>
        <p:spPr>
          <a:xfrm>
            <a:off x="891160" y="417827"/>
            <a:ext cx="187800" cy="1977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4350" rotWithShape="0" algn="tl" dir="2700000" dist="12175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103"/>
          <p:cNvGrpSpPr/>
          <p:nvPr/>
        </p:nvGrpSpPr>
        <p:grpSpPr>
          <a:xfrm>
            <a:off x="5278400" y="2106574"/>
            <a:ext cx="428859" cy="2088852"/>
            <a:chOff x="9017403" y="-182500"/>
            <a:chExt cx="677931" cy="3136886"/>
          </a:xfrm>
        </p:grpSpPr>
        <p:sp>
          <p:nvSpPr>
            <p:cNvPr id="528" name="Google Shape;528;p103" title="Milestone Arrow"/>
            <p:cNvSpPr/>
            <p:nvPr/>
          </p:nvSpPr>
          <p:spPr>
            <a:xfrm>
              <a:off x="9044628" y="899386"/>
              <a:ext cx="470400" cy="20550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29" name="Google Shape;529;p103" title="Milestone Text"/>
            <p:cNvGrpSpPr/>
            <p:nvPr/>
          </p:nvGrpSpPr>
          <p:grpSpPr>
            <a:xfrm>
              <a:off x="9017403" y="-182500"/>
              <a:ext cx="677931" cy="586518"/>
              <a:chOff x="2170751" y="-1290535"/>
              <a:chExt cx="677931" cy="565919"/>
            </a:xfrm>
          </p:grpSpPr>
          <p:sp>
            <p:nvSpPr>
              <p:cNvPr id="530" name="Google Shape;530;p103"/>
              <p:cNvSpPr txBox="1"/>
              <p:nvPr/>
            </p:nvSpPr>
            <p:spPr>
              <a:xfrm>
                <a:off x="2177282" y="-1290535"/>
                <a:ext cx="671400" cy="1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Forum 2023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31" name="Google Shape;531;p103"/>
              <p:cNvSpPr txBox="1"/>
              <p:nvPr/>
            </p:nvSpPr>
            <p:spPr>
              <a:xfrm>
                <a:off x="2170751" y="-878516"/>
                <a:ext cx="671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Feb 16 2023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BA461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HP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Framestore</a:t>
                </a:r>
                <a:endParaRPr b="0" i="0" sz="6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32" name="Google Shape;532;p103" title="Milestone Number"/>
            <p:cNvSpPr/>
            <p:nvPr/>
          </p:nvSpPr>
          <p:spPr>
            <a:xfrm>
              <a:off x="9143029" y="1014215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3" name="Google Shape;533;p103"/>
          <p:cNvCxnSpPr/>
          <p:nvPr/>
        </p:nvCxnSpPr>
        <p:spPr>
          <a:xfrm>
            <a:off x="966187" y="4235309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34" name="Google Shape;534;p103"/>
          <p:cNvSpPr txBox="1"/>
          <p:nvPr/>
        </p:nvSpPr>
        <p:spPr>
          <a:xfrm>
            <a:off x="4468566" y="4448780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03"/>
          <p:cNvSpPr txBox="1"/>
          <p:nvPr/>
        </p:nvSpPr>
        <p:spPr>
          <a:xfrm>
            <a:off x="5374650" y="4703738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03"/>
          <p:cNvSpPr txBox="1"/>
          <p:nvPr/>
        </p:nvSpPr>
        <p:spPr>
          <a:xfrm>
            <a:off x="5634369" y="4455901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7" name="Google Shape;537;p103" title="Milestone 3"/>
          <p:cNvGrpSpPr/>
          <p:nvPr/>
        </p:nvGrpSpPr>
        <p:grpSpPr>
          <a:xfrm>
            <a:off x="5700067" y="755688"/>
            <a:ext cx="746150" cy="3460626"/>
            <a:chOff x="3275150" y="242254"/>
            <a:chExt cx="1179497" cy="5196916"/>
          </a:xfrm>
        </p:grpSpPr>
        <p:sp>
          <p:nvSpPr>
            <p:cNvPr id="538" name="Google Shape;538;p103" title="Milestone Arrow"/>
            <p:cNvSpPr/>
            <p:nvPr/>
          </p:nvSpPr>
          <p:spPr>
            <a:xfrm>
              <a:off x="3275150" y="1978370"/>
              <a:ext cx="470400" cy="34608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9" name="Google Shape;539;p103" title="Milestone Number"/>
            <p:cNvSpPr/>
            <p:nvPr/>
          </p:nvSpPr>
          <p:spPr>
            <a:xfrm>
              <a:off x="3361849" y="2140777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0" name="Google Shape;540;p103" title="Milestone Text"/>
            <p:cNvGrpSpPr/>
            <p:nvPr/>
          </p:nvGrpSpPr>
          <p:grpSpPr>
            <a:xfrm>
              <a:off x="3276844" y="242254"/>
              <a:ext cx="1177803" cy="725775"/>
              <a:chOff x="1937405" y="-1217337"/>
              <a:chExt cx="1177803" cy="725775"/>
            </a:xfrm>
          </p:grpSpPr>
          <p:sp>
            <p:nvSpPr>
              <p:cNvPr id="541" name="Google Shape;541;p103"/>
              <p:cNvSpPr txBox="1"/>
              <p:nvPr/>
            </p:nvSpPr>
            <p:spPr>
              <a:xfrm>
                <a:off x="1937408" y="-1217337"/>
                <a:ext cx="1177800" cy="5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Days 2023</a:t>
                </a:r>
                <a:endParaRPr b="0" i="0" sz="1000" u="none" cap="none" strike="noStrike">
                  <a:solidFill>
                    <a:srgbClr val="FFD96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103"/>
              <p:cNvSpPr txBox="1"/>
              <p:nvPr/>
            </p:nvSpPr>
            <p:spPr>
              <a:xfrm>
                <a:off x="1937405" y="-645462"/>
                <a:ext cx="11778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July 25 - </a:t>
                </a:r>
                <a:endParaRPr b="0" i="0" sz="8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August 7, 2023</a:t>
                </a:r>
                <a:endParaRPr b="0" i="0" sz="8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n" sz="8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OpenImageIO</a:t>
                </a:r>
                <a:endParaRPr b="0" i="0" sz="2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Otoy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Bolt Graphics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Coreweave</a:t>
                </a:r>
                <a:endParaRPr b="0" i="0" sz="8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543" name="Google Shape;543;p103"/>
          <p:cNvSpPr txBox="1"/>
          <p:nvPr/>
        </p:nvSpPr>
        <p:spPr>
          <a:xfrm>
            <a:off x="6276365" y="47037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" name="Google Shape;544;p103"/>
          <p:cNvGrpSpPr/>
          <p:nvPr/>
        </p:nvGrpSpPr>
        <p:grpSpPr>
          <a:xfrm>
            <a:off x="6038489" y="1916024"/>
            <a:ext cx="469136" cy="2278989"/>
            <a:chOff x="9007206" y="-259743"/>
            <a:chExt cx="741600" cy="3213917"/>
          </a:xfrm>
        </p:grpSpPr>
        <p:sp>
          <p:nvSpPr>
            <p:cNvPr id="545" name="Google Shape;545;p103" title="Milestone Arrow"/>
            <p:cNvSpPr/>
            <p:nvPr/>
          </p:nvSpPr>
          <p:spPr>
            <a:xfrm>
              <a:off x="9065676" y="666374"/>
              <a:ext cx="470400" cy="22878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46" name="Google Shape;546;p103" title="Milestone Text"/>
            <p:cNvGrpSpPr/>
            <p:nvPr/>
          </p:nvGrpSpPr>
          <p:grpSpPr>
            <a:xfrm>
              <a:off x="9007206" y="-259743"/>
              <a:ext cx="741600" cy="509241"/>
              <a:chOff x="2160554" y="-1365064"/>
              <a:chExt cx="741600" cy="491356"/>
            </a:xfrm>
          </p:grpSpPr>
          <p:sp>
            <p:nvSpPr>
              <p:cNvPr id="547" name="Google Shape;547;p103"/>
              <p:cNvSpPr txBox="1"/>
              <p:nvPr/>
            </p:nvSpPr>
            <p:spPr>
              <a:xfrm>
                <a:off x="2160554" y="-1365064"/>
                <a:ext cx="741600" cy="1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Forum 2024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8" name="Google Shape;548;p103"/>
              <p:cNvSpPr txBox="1"/>
              <p:nvPr/>
            </p:nvSpPr>
            <p:spPr>
              <a:xfrm>
                <a:off x="2170752" y="-1027608"/>
                <a:ext cx="730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Feb 22 2024</a:t>
                </a:r>
                <a:endParaRPr b="0" i="0" sz="600" u="none" cap="none" strike="noStrike">
                  <a:solidFill>
                    <a:srgbClr val="FFD966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BA461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Mod Tech 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Labs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49" name="Google Shape;549;p103" title="Milestone Number"/>
            <p:cNvSpPr/>
            <p:nvPr/>
          </p:nvSpPr>
          <p:spPr>
            <a:xfrm>
              <a:off x="9143848" y="809505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0" name="Google Shape;550;p103"/>
          <p:cNvSpPr txBox="1"/>
          <p:nvPr/>
        </p:nvSpPr>
        <p:spPr>
          <a:xfrm>
            <a:off x="6088586" y="4465607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103"/>
          <p:cNvCxnSpPr/>
          <p:nvPr/>
        </p:nvCxnSpPr>
        <p:spPr>
          <a:xfrm>
            <a:off x="6253771" y="4263052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552" name="Google Shape;552;p103"/>
          <p:cNvCxnSpPr/>
          <p:nvPr/>
        </p:nvCxnSpPr>
        <p:spPr>
          <a:xfrm>
            <a:off x="3114571" y="425212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grpSp>
        <p:nvGrpSpPr>
          <p:cNvPr id="553" name="Google Shape;553;p103" title="Milestone 3"/>
          <p:cNvGrpSpPr/>
          <p:nvPr/>
        </p:nvGrpSpPr>
        <p:grpSpPr>
          <a:xfrm>
            <a:off x="6487687" y="327963"/>
            <a:ext cx="746145" cy="3888390"/>
            <a:chOff x="3275158" y="-400072"/>
            <a:chExt cx="1179489" cy="5839300"/>
          </a:xfrm>
        </p:grpSpPr>
        <p:sp>
          <p:nvSpPr>
            <p:cNvPr id="554" name="Google Shape;554;p103" title="Milestone Arrow"/>
            <p:cNvSpPr/>
            <p:nvPr/>
          </p:nvSpPr>
          <p:spPr>
            <a:xfrm>
              <a:off x="3275158" y="896328"/>
              <a:ext cx="470400" cy="45429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5" name="Google Shape;555;p103" title="Milestone Number"/>
            <p:cNvSpPr/>
            <p:nvPr/>
          </p:nvSpPr>
          <p:spPr>
            <a:xfrm>
              <a:off x="3361849" y="1039026"/>
              <a:ext cx="297000" cy="29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6" name="Google Shape;556;p103" title="Milestone Text"/>
            <p:cNvGrpSpPr/>
            <p:nvPr/>
          </p:nvGrpSpPr>
          <p:grpSpPr>
            <a:xfrm>
              <a:off x="3276000" y="-400072"/>
              <a:ext cx="1178647" cy="692550"/>
              <a:chOff x="1936561" y="-1859663"/>
              <a:chExt cx="1178647" cy="692550"/>
            </a:xfrm>
          </p:grpSpPr>
          <p:sp>
            <p:nvSpPr>
              <p:cNvPr id="557" name="Google Shape;557;p103"/>
              <p:cNvSpPr txBox="1"/>
              <p:nvPr/>
            </p:nvSpPr>
            <p:spPr>
              <a:xfrm>
                <a:off x="1937408" y="-1859663"/>
                <a:ext cx="1177800" cy="55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Days 2024</a:t>
                </a:r>
                <a:endParaRPr b="0" i="0" sz="1000" u="none" cap="none" strike="noStrike">
                  <a:solidFill>
                    <a:srgbClr val="FFD96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03"/>
              <p:cNvSpPr txBox="1"/>
              <p:nvPr/>
            </p:nvSpPr>
            <p:spPr>
              <a:xfrm>
                <a:off x="1936561" y="-1321013"/>
                <a:ext cx="1100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July 23-29 2024</a:t>
                </a:r>
                <a:endParaRPr b="0" i="0" sz="7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2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Samsung</a:t>
                </a:r>
                <a:endParaRPr b="0" i="0" sz="8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Caligra</a:t>
                </a:r>
                <a:endParaRPr b="0" i="0" sz="8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cxnSp>
        <p:nvCxnSpPr>
          <p:cNvPr id="559" name="Google Shape;559;p103"/>
          <p:cNvCxnSpPr/>
          <p:nvPr/>
        </p:nvCxnSpPr>
        <p:spPr>
          <a:xfrm>
            <a:off x="6682444" y="4263810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60" name="Google Shape;560;p103"/>
          <p:cNvSpPr txBox="1"/>
          <p:nvPr/>
        </p:nvSpPr>
        <p:spPr>
          <a:xfrm>
            <a:off x="6431108" y="4464757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9933" y="320175"/>
            <a:ext cx="318020" cy="4117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103"/>
          <p:cNvGrpSpPr/>
          <p:nvPr/>
        </p:nvGrpSpPr>
        <p:grpSpPr>
          <a:xfrm>
            <a:off x="6840209" y="1042643"/>
            <a:ext cx="600073" cy="3160877"/>
            <a:chOff x="9026982" y="-1503580"/>
            <a:chExt cx="948582" cy="4457589"/>
          </a:xfrm>
        </p:grpSpPr>
        <p:sp>
          <p:nvSpPr>
            <p:cNvPr id="563" name="Google Shape;563;p103" title="Milestone Arrow"/>
            <p:cNvSpPr/>
            <p:nvPr/>
          </p:nvSpPr>
          <p:spPr>
            <a:xfrm>
              <a:off x="9039410" y="-203191"/>
              <a:ext cx="470400" cy="31572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64" name="Google Shape;564;p103" title="Milestone Text"/>
            <p:cNvGrpSpPr/>
            <p:nvPr/>
          </p:nvGrpSpPr>
          <p:grpSpPr>
            <a:xfrm>
              <a:off x="9026982" y="-1503580"/>
              <a:ext cx="948582" cy="733247"/>
              <a:chOff x="2180330" y="-2565217"/>
              <a:chExt cx="948582" cy="707494"/>
            </a:xfrm>
          </p:grpSpPr>
          <p:sp>
            <p:nvSpPr>
              <p:cNvPr id="565" name="Google Shape;565;p103"/>
              <p:cNvSpPr txBox="1"/>
              <p:nvPr/>
            </p:nvSpPr>
            <p:spPr>
              <a:xfrm>
                <a:off x="2180330" y="-2565217"/>
                <a:ext cx="948000" cy="18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</a:t>
                </a:r>
                <a:endParaRPr b="0" i="0" sz="65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Source </a:t>
                </a:r>
                <a:endParaRPr b="0" i="0" sz="65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Forum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2025</a:t>
                </a:r>
                <a:endParaRPr b="0" i="0" sz="65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66" name="Google Shape;566;p103"/>
              <p:cNvSpPr txBox="1"/>
              <p:nvPr/>
            </p:nvSpPr>
            <p:spPr>
              <a:xfrm>
                <a:off x="2180912" y="-2011623"/>
                <a:ext cx="9480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</a:t>
                </a: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eb 13</a:t>
                </a:r>
                <a:endParaRPr b="0" i="0" sz="100" u="none" cap="none" strike="noStrike">
                  <a:solidFill>
                    <a:srgbClr val="BA461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E8590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OpenAPV</a:t>
                </a:r>
                <a:endParaRPr b="1" i="0" sz="7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1" i="0" sz="1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Stability.ai </a:t>
                </a:r>
                <a:endParaRPr b="0" i="0" sz="6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RaynaultVFX</a:t>
                </a:r>
                <a:endParaRPr b="0" i="0" sz="6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67" name="Google Shape;567;p103" title="Milestone Number"/>
            <p:cNvSpPr/>
            <p:nvPr/>
          </p:nvSpPr>
          <p:spPr>
            <a:xfrm>
              <a:off x="9117588" y="-112001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103"/>
          <p:cNvSpPr txBox="1"/>
          <p:nvPr/>
        </p:nvSpPr>
        <p:spPr>
          <a:xfrm>
            <a:off x="6829319" y="4474229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103"/>
          <p:cNvCxnSpPr/>
          <p:nvPr/>
        </p:nvCxnSpPr>
        <p:spPr>
          <a:xfrm>
            <a:off x="6994504" y="4262056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70" name="Google Shape;570;p103"/>
          <p:cNvSpPr txBox="1"/>
          <p:nvPr/>
        </p:nvSpPr>
        <p:spPr>
          <a:xfrm>
            <a:off x="7084163" y="4695788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03" title="Milestone Arrow"/>
          <p:cNvSpPr/>
          <p:nvPr/>
        </p:nvSpPr>
        <p:spPr>
          <a:xfrm>
            <a:off x="7291185" y="1749770"/>
            <a:ext cx="297600" cy="2464800"/>
          </a:xfrm>
          <a:prstGeom prst="downArrow">
            <a:avLst>
              <a:gd fmla="val 100000" name="adj1"/>
              <a:gd fmla="val 50000" name="adj2"/>
            </a:avLst>
          </a:prstGeom>
          <a:gradFill>
            <a:gsLst>
              <a:gs pos="0">
                <a:srgbClr val="E8590E"/>
              </a:gs>
              <a:gs pos="100000">
                <a:srgbClr val="F2F2F2"/>
              </a:gs>
            </a:gsLst>
            <a:lin ang="5400700" scaled="0"/>
          </a:gradFill>
          <a:ln>
            <a:noFill/>
          </a:ln>
        </p:spPr>
        <p:txBody>
          <a:bodyPr anchorCtr="0" anchor="ctr" bIns="43800" lIns="87650" spcFirstLastPara="1" rIns="87650" wrap="square" tIns="43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72" name="Google Shape;572;p103"/>
          <p:cNvGrpSpPr/>
          <p:nvPr/>
        </p:nvGrpSpPr>
        <p:grpSpPr>
          <a:xfrm>
            <a:off x="7275678" y="341429"/>
            <a:ext cx="850784" cy="451943"/>
            <a:chOff x="2170879" y="-1050366"/>
            <a:chExt cx="1344900" cy="654800"/>
          </a:xfrm>
        </p:grpSpPr>
        <p:sp>
          <p:nvSpPr>
            <p:cNvPr id="573" name="Google Shape;573;p103"/>
            <p:cNvSpPr txBox="1"/>
            <p:nvPr/>
          </p:nvSpPr>
          <p:spPr>
            <a:xfrm>
              <a:off x="2170879" y="-1050366"/>
              <a:ext cx="13449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 Source Days 2025</a:t>
              </a:r>
              <a:endParaRPr b="0" i="0" sz="1000" u="none" cap="none" strike="noStrike">
                <a:solidFill>
                  <a:srgbClr val="FFD9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03"/>
            <p:cNvSpPr txBox="1"/>
            <p:nvPr/>
          </p:nvSpPr>
          <p:spPr>
            <a:xfrm>
              <a:off x="2181076" y="-549466"/>
              <a:ext cx="1090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August  4-10</a:t>
              </a:r>
              <a:endParaRPr b="0" i="0" sz="700" u="none" cap="none" strike="noStrike">
                <a:solidFill>
                  <a:srgbClr val="FFD96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4EB7C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ACES</a:t>
              </a:r>
              <a:endParaRPr b="1" i="0" sz="8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DNA</a:t>
              </a:r>
              <a:endParaRPr b="1" i="0" sz="8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RMTC</a:t>
              </a:r>
              <a:endParaRPr b="1" i="0" sz="800" u="none" cap="none" strike="noStrike">
                <a:solidFill>
                  <a:srgbClr val="C3602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65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LAIKA</a:t>
              </a:r>
              <a:endParaRPr b="0" i="0" sz="6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65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Skydance Animation</a:t>
              </a:r>
              <a:endParaRPr b="0" i="0" sz="6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575" name="Google Shape;575;p103" title="Milestone Number"/>
          <p:cNvSpPr/>
          <p:nvPr/>
        </p:nvSpPr>
        <p:spPr>
          <a:xfrm>
            <a:off x="7338660" y="1862162"/>
            <a:ext cx="188100" cy="2109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4350" rotWithShape="0" algn="tl" dir="2700000" dist="12175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760" u="none" cap="none" strike="noStrike">
                <a:solidFill>
                  <a:srgbClr val="E8590E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03"/>
          <p:cNvSpPr txBox="1"/>
          <p:nvPr/>
        </p:nvSpPr>
        <p:spPr>
          <a:xfrm>
            <a:off x="7232193" y="4468178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103"/>
          <p:cNvCxnSpPr/>
          <p:nvPr/>
        </p:nvCxnSpPr>
        <p:spPr>
          <a:xfrm>
            <a:off x="7452237" y="4264059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78" name="Google Shape;578;p103"/>
          <p:cNvSpPr txBox="1"/>
          <p:nvPr/>
        </p:nvSpPr>
        <p:spPr>
          <a:xfrm>
            <a:off x="697387" y="4433520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03"/>
          <p:cNvSpPr txBox="1"/>
          <p:nvPr/>
        </p:nvSpPr>
        <p:spPr>
          <a:xfrm>
            <a:off x="7933533" y="4702757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E8590E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103"/>
          <p:cNvCxnSpPr/>
          <p:nvPr/>
        </p:nvCxnSpPr>
        <p:spPr>
          <a:xfrm>
            <a:off x="7928088" y="4254959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81" name="Google Shape;581;p103"/>
          <p:cNvSpPr txBox="1"/>
          <p:nvPr/>
        </p:nvSpPr>
        <p:spPr>
          <a:xfrm>
            <a:off x="7744382" y="4465918"/>
            <a:ext cx="336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2" name="Google Shape;582;p103"/>
          <p:cNvGrpSpPr/>
          <p:nvPr/>
        </p:nvGrpSpPr>
        <p:grpSpPr>
          <a:xfrm>
            <a:off x="7661779" y="1021248"/>
            <a:ext cx="691270" cy="3182340"/>
            <a:chOff x="9025022" y="-1533733"/>
            <a:chExt cx="1092744" cy="4487858"/>
          </a:xfrm>
        </p:grpSpPr>
        <p:sp>
          <p:nvSpPr>
            <p:cNvPr id="583" name="Google Shape;583;p103" title="Milestone Arrow"/>
            <p:cNvSpPr/>
            <p:nvPr/>
          </p:nvSpPr>
          <p:spPr>
            <a:xfrm>
              <a:off x="9039410" y="-58775"/>
              <a:ext cx="470400" cy="30129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84" name="Google Shape;584;p103" title="Milestone Text"/>
            <p:cNvGrpSpPr/>
            <p:nvPr/>
          </p:nvGrpSpPr>
          <p:grpSpPr>
            <a:xfrm>
              <a:off x="9025022" y="-1533733"/>
              <a:ext cx="1092744" cy="458721"/>
              <a:chOff x="2178370" y="-2594312"/>
              <a:chExt cx="1092744" cy="442610"/>
            </a:xfrm>
          </p:grpSpPr>
          <p:sp>
            <p:nvSpPr>
              <p:cNvPr id="585" name="Google Shape;585;p103"/>
              <p:cNvSpPr txBox="1"/>
              <p:nvPr/>
            </p:nvSpPr>
            <p:spPr>
              <a:xfrm>
                <a:off x="2178370" y="-2594312"/>
                <a:ext cx="1090200" cy="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 Source </a:t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Forum 2026</a:t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86" name="Google Shape;586;p103"/>
              <p:cNvSpPr txBox="1"/>
              <p:nvPr/>
            </p:nvSpPr>
            <p:spPr>
              <a:xfrm>
                <a:off x="2180914" y="-2305602"/>
                <a:ext cx="10902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65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Feb 26 2026</a:t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EA6C2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OpenPGL</a:t>
                </a:r>
                <a:endParaRPr b="1" i="0" sz="700" u="none" cap="none" strike="noStrike">
                  <a:solidFill>
                    <a:srgbClr val="EA6C2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i="0" lang="en" sz="700" u="none" cap="none" strike="noStrike">
                    <a:solidFill>
                      <a:srgbClr val="EA6C2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OpenQMC</a:t>
                </a:r>
                <a:endParaRPr b="1" i="0" sz="700" u="none" cap="none" strike="noStrike">
                  <a:solidFill>
                    <a:srgbClr val="EA6C2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1" i="0" sz="1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Miris 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Texas A&amp;M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O3DE</a:t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87" name="Google Shape;587;p103" title="Milestone Number"/>
            <p:cNvSpPr/>
            <p:nvPr/>
          </p:nvSpPr>
          <p:spPr>
            <a:xfrm>
              <a:off x="9117589" y="88402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103"/>
          <p:cNvGrpSpPr/>
          <p:nvPr/>
        </p:nvGrpSpPr>
        <p:grpSpPr>
          <a:xfrm>
            <a:off x="8141779" y="1021248"/>
            <a:ext cx="691270" cy="3182332"/>
            <a:chOff x="9025022" y="-1533733"/>
            <a:chExt cx="1092744" cy="4487846"/>
          </a:xfrm>
        </p:grpSpPr>
        <p:sp>
          <p:nvSpPr>
            <p:cNvPr id="589" name="Google Shape;589;p103" title="Milestone Arrow"/>
            <p:cNvSpPr/>
            <p:nvPr/>
          </p:nvSpPr>
          <p:spPr>
            <a:xfrm>
              <a:off x="9039410" y="-935087"/>
              <a:ext cx="470400" cy="3889200"/>
            </a:xfrm>
            <a:prstGeom prst="downArrow">
              <a:avLst>
                <a:gd fmla="val 100000" name="adj1"/>
                <a:gd fmla="val 50000" name="adj2"/>
              </a:avLst>
            </a:prstGeom>
            <a:gradFill>
              <a:gsLst>
                <a:gs pos="0">
                  <a:srgbClr val="E8590E"/>
                </a:gs>
                <a:gs pos="100000">
                  <a:srgbClr val="F2F2F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43800" lIns="87650" spcFirstLastPara="1" rIns="87650" wrap="square" tIns="43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90" name="Google Shape;590;p103" title="Milestone Text"/>
            <p:cNvGrpSpPr/>
            <p:nvPr/>
          </p:nvGrpSpPr>
          <p:grpSpPr>
            <a:xfrm>
              <a:off x="9025022" y="-1533733"/>
              <a:ext cx="1092744" cy="458721"/>
              <a:chOff x="2178370" y="-2594312"/>
              <a:chExt cx="1092744" cy="442610"/>
            </a:xfrm>
          </p:grpSpPr>
          <p:sp>
            <p:nvSpPr>
              <p:cNvPr id="591" name="Google Shape;591;p103"/>
              <p:cNvSpPr txBox="1"/>
              <p:nvPr/>
            </p:nvSpPr>
            <p:spPr>
              <a:xfrm>
                <a:off x="2178370" y="-2594312"/>
                <a:ext cx="1090200" cy="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92" name="Google Shape;592;p103"/>
              <p:cNvSpPr txBox="1"/>
              <p:nvPr/>
            </p:nvSpPr>
            <p:spPr>
              <a:xfrm>
                <a:off x="2180914" y="-2305602"/>
                <a:ext cx="10902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65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"/>
                  <a:buFont typeface="Arial"/>
                  <a:buNone/>
                </a:pPr>
                <a:r>
                  <a:t/>
                </a:r>
                <a:endParaRPr b="0" i="0" sz="1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FFD965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1" i="0" sz="100" u="none" cap="none" strike="noStrike">
                  <a:solidFill>
                    <a:srgbClr val="C3602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93" name="Google Shape;593;p103" title="Milestone Number"/>
            <p:cNvSpPr/>
            <p:nvPr/>
          </p:nvSpPr>
          <p:spPr>
            <a:xfrm>
              <a:off x="9121733" y="-821068"/>
              <a:ext cx="297300" cy="297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4350" rotWithShape="0" algn="tl" dir="2700000" dist="12175">
                <a:srgbClr val="000000">
                  <a:alpha val="4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4" name="Google Shape;594;p103"/>
          <p:cNvCxnSpPr/>
          <p:nvPr/>
        </p:nvCxnSpPr>
        <p:spPr>
          <a:xfrm>
            <a:off x="8408088" y="4254959"/>
            <a:ext cx="0" cy="11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595" name="Google Shape;595;p103"/>
          <p:cNvSpPr txBox="1"/>
          <p:nvPr/>
        </p:nvSpPr>
        <p:spPr>
          <a:xfrm>
            <a:off x="8173533" y="4468178"/>
            <a:ext cx="469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103"/>
          <p:cNvGrpSpPr/>
          <p:nvPr/>
        </p:nvGrpSpPr>
        <p:grpSpPr>
          <a:xfrm>
            <a:off x="8168078" y="350183"/>
            <a:ext cx="850784" cy="451943"/>
            <a:chOff x="2170879" y="-1050366"/>
            <a:chExt cx="1344900" cy="654800"/>
          </a:xfrm>
        </p:grpSpPr>
        <p:sp>
          <p:nvSpPr>
            <p:cNvPr id="597" name="Google Shape;597;p103"/>
            <p:cNvSpPr txBox="1"/>
            <p:nvPr/>
          </p:nvSpPr>
          <p:spPr>
            <a:xfrm>
              <a:off x="2170879" y="-1050366"/>
              <a:ext cx="13449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005A6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Open Source Days 2026</a:t>
              </a:r>
              <a:endParaRPr b="0" i="0" sz="1050" u="none" cap="none" strike="noStrike">
                <a:solidFill>
                  <a:srgbClr val="005A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03"/>
            <p:cNvSpPr txBox="1"/>
            <p:nvPr/>
          </p:nvSpPr>
          <p:spPr>
            <a:xfrm>
              <a:off x="2181076" y="-549466"/>
              <a:ext cx="1090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July 19-20, 2026</a:t>
              </a:r>
              <a:endParaRPr b="0" i="0" sz="700" u="none" cap="none" strike="noStrike">
                <a:solidFill>
                  <a:srgbClr val="FFD96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4EB7C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E8590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MoonRay</a:t>
              </a:r>
              <a:endParaRPr b="0" i="0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CIQ</a:t>
              </a:r>
              <a:endParaRPr b="0" i="0" sz="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Evercast</a:t>
              </a:r>
              <a:endParaRPr b="0" i="0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>
                  <a:latin typeface="Trebuchet MS"/>
                  <a:ea typeface="Trebuchet MS"/>
                  <a:cs typeface="Trebuchet MS"/>
                  <a:sym typeface="Trebuchet MS"/>
                </a:rPr>
                <a:t>RIT</a:t>
              </a:r>
              <a:endParaRPr sz="8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/>
          <p:nvPr/>
        </p:nvSpPr>
        <p:spPr>
          <a:xfrm>
            <a:off x="336038" y="98419"/>
            <a:ext cx="84720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2975" lIns="82975" spcFirstLastPara="1" rIns="82975" wrap="square" tIns="829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Membership</a:t>
            </a:r>
            <a:endParaRPr b="1"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04"/>
          <p:cNvSpPr txBox="1"/>
          <p:nvPr/>
        </p:nvSpPr>
        <p:spPr>
          <a:xfrm>
            <a:off x="258094" y="917606"/>
            <a:ext cx="38343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25" lIns="64025" spcFirstLastPara="1" rIns="64025" wrap="square" tIns="64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Premier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04"/>
          <p:cNvSpPr txBox="1"/>
          <p:nvPr/>
        </p:nvSpPr>
        <p:spPr>
          <a:xfrm>
            <a:off x="4087590" y="917606"/>
            <a:ext cx="30453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25" lIns="64025" spcFirstLastPara="1" rIns="64025" wrap="square" tIns="64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04"/>
          <p:cNvSpPr txBox="1"/>
          <p:nvPr/>
        </p:nvSpPr>
        <p:spPr>
          <a:xfrm>
            <a:off x="7421710" y="892088"/>
            <a:ext cx="1438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25" lIns="64025" spcFirstLastPara="1" rIns="64025" wrap="square" tIns="64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Associate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104"/>
          <p:cNvCxnSpPr/>
          <p:nvPr/>
        </p:nvCxnSpPr>
        <p:spPr>
          <a:xfrm flipH="1">
            <a:off x="4023772" y="1180575"/>
            <a:ext cx="4800" cy="3377700"/>
          </a:xfrm>
          <a:prstGeom prst="straightConnector1">
            <a:avLst/>
          </a:prstGeom>
          <a:noFill/>
          <a:ln cap="flat" cmpd="sng" w="15550">
            <a:solidFill>
              <a:srgbClr val="B49823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08" name="Google Shape;608;p104"/>
          <p:cNvCxnSpPr/>
          <p:nvPr/>
        </p:nvCxnSpPr>
        <p:spPr>
          <a:xfrm flipH="1">
            <a:off x="7091841" y="1180575"/>
            <a:ext cx="4800" cy="3377700"/>
          </a:xfrm>
          <a:prstGeom prst="straightConnector1">
            <a:avLst/>
          </a:prstGeom>
          <a:noFill/>
          <a:ln cap="flat" cmpd="sng" w="15550">
            <a:solidFill>
              <a:srgbClr val="B49823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09" name="Google Shape;6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2154" y="1365806"/>
            <a:ext cx="1777549" cy="3111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104" title="Screenshot 2026-07-10 at 4.45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63" y="1247006"/>
            <a:ext cx="3271370" cy="3591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104" title="Screenshot 2026-07-10 at 4.49.3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6750" y="1284038"/>
            <a:ext cx="2809574" cy="257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5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02"/>
              <a:buNone/>
            </a:pPr>
            <a:r>
              <a:rPr lang="en" sz="2230"/>
              <a:t>We’re a nonprofit, but not separately incorporated</a:t>
            </a:r>
            <a:endParaRPr sz="2230"/>
          </a:p>
        </p:txBody>
      </p:sp>
      <p:sp>
        <p:nvSpPr>
          <p:cNvPr id="617" name="Google Shape;617;p10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429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Academy Software Foundation is part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the Linux Foundation</a:t>
            </a:r>
            <a:r>
              <a:rPr lang="en"/>
              <a:t> and is not a separate legal entity</a:t>
            </a:r>
            <a:endParaRPr/>
          </a:p>
          <a:p>
            <a:pPr indent="-298450" lvl="0" marL="3429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Therefore, the </a:t>
            </a:r>
            <a:r>
              <a:rPr lang="en"/>
              <a:t>Academy Software Foundation</a:t>
            </a:r>
            <a:r>
              <a:rPr lang="en"/>
              <a:t> Governing Board is not a </a:t>
            </a:r>
            <a:r>
              <a:rPr lang="en"/>
              <a:t>corporate</a:t>
            </a:r>
            <a:r>
              <a:rPr lang="en"/>
              <a:t> board of directors, and is not </a:t>
            </a:r>
            <a:r>
              <a:rPr lang="en"/>
              <a:t>subject to </a:t>
            </a:r>
            <a:r>
              <a:rPr lang="en"/>
              <a:t>corporate law statutes (e.g., those that govern f</a:t>
            </a:r>
            <a:r>
              <a:rPr lang="en"/>
              <a:t>iduciary</a:t>
            </a:r>
            <a:r>
              <a:rPr lang="en"/>
              <a:t> duties and how corporate boards of directors must operate)</a:t>
            </a:r>
            <a:endParaRPr/>
          </a:p>
          <a:p>
            <a:pPr indent="-298450" lvl="0" marL="3429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powers and duties of the Governing Board are set forth in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Academy Software Foundation Charter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2" name="Google Shape;622;p106"/>
          <p:cNvCxnSpPr/>
          <p:nvPr/>
        </p:nvCxnSpPr>
        <p:spPr>
          <a:xfrm>
            <a:off x="8717535" y="2828751"/>
            <a:ext cx="0" cy="1545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06"/>
          <p:cNvCxnSpPr/>
          <p:nvPr/>
        </p:nvCxnSpPr>
        <p:spPr>
          <a:xfrm>
            <a:off x="4418700" y="2830610"/>
            <a:ext cx="0" cy="15483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106"/>
          <p:cNvSpPr/>
          <p:nvPr/>
        </p:nvSpPr>
        <p:spPr>
          <a:xfrm>
            <a:off x="8423371" y="3584224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rPr lang="en" sz="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xSTUDIO</a:t>
            </a:r>
            <a:endParaRPr sz="4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106"/>
          <p:cNvCxnSpPr/>
          <p:nvPr/>
        </p:nvCxnSpPr>
        <p:spPr>
          <a:xfrm>
            <a:off x="5312382" y="1817756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06"/>
          <p:cNvCxnSpPr/>
          <p:nvPr/>
        </p:nvCxnSpPr>
        <p:spPr>
          <a:xfrm>
            <a:off x="6508145" y="1817756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06"/>
          <p:cNvCxnSpPr/>
          <p:nvPr/>
        </p:nvCxnSpPr>
        <p:spPr>
          <a:xfrm>
            <a:off x="7728050" y="1799600"/>
            <a:ext cx="0" cy="5361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106"/>
          <p:cNvCxnSpPr/>
          <p:nvPr/>
        </p:nvCxnSpPr>
        <p:spPr>
          <a:xfrm>
            <a:off x="2886649" y="1817750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106"/>
          <p:cNvCxnSpPr/>
          <p:nvPr/>
        </p:nvCxnSpPr>
        <p:spPr>
          <a:xfrm>
            <a:off x="697851" y="1810775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106"/>
          <p:cNvCxnSpPr/>
          <p:nvPr/>
        </p:nvCxnSpPr>
        <p:spPr>
          <a:xfrm>
            <a:off x="1808561" y="1810700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106"/>
          <p:cNvCxnSpPr/>
          <p:nvPr/>
        </p:nvCxnSpPr>
        <p:spPr>
          <a:xfrm>
            <a:off x="3977158" y="1810700"/>
            <a:ext cx="5400" cy="5139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106"/>
          <p:cNvCxnSpPr/>
          <p:nvPr/>
        </p:nvCxnSpPr>
        <p:spPr>
          <a:xfrm>
            <a:off x="6019409" y="2833889"/>
            <a:ext cx="0" cy="15936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106"/>
          <p:cNvSpPr/>
          <p:nvPr/>
        </p:nvSpPr>
        <p:spPr>
          <a:xfrm>
            <a:off x="5724200" y="2998655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sz="699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sz="873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b="1" i="0" sz="786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4" name="Google Shape;634;p106"/>
          <p:cNvCxnSpPr/>
          <p:nvPr/>
        </p:nvCxnSpPr>
        <p:spPr>
          <a:xfrm>
            <a:off x="2811287" y="2834570"/>
            <a:ext cx="0" cy="16074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106"/>
          <p:cNvSpPr/>
          <p:nvPr/>
        </p:nvSpPr>
        <p:spPr>
          <a:xfrm>
            <a:off x="2539642" y="2998610"/>
            <a:ext cx="5457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6" name="Google Shape;636;p106"/>
          <p:cNvCxnSpPr/>
          <p:nvPr/>
        </p:nvCxnSpPr>
        <p:spPr>
          <a:xfrm>
            <a:off x="7579122" y="2842235"/>
            <a:ext cx="0" cy="1545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106"/>
          <p:cNvSpPr txBox="1"/>
          <p:nvPr/>
        </p:nvSpPr>
        <p:spPr>
          <a:xfrm>
            <a:off x="354047" y="358405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ASWF </a:t>
            </a:r>
            <a:r>
              <a:rPr i="0" lang="en" sz="2400" u="none" cap="none" strike="noStrike">
                <a:solidFill>
                  <a:schemeClr val="lt1"/>
                </a:solidFill>
              </a:rPr>
              <a:t>Structure</a:t>
            </a:r>
            <a:endParaRPr i="0" sz="2400" u="none" cap="none" strike="noStrike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38" name="Google Shape;638;p106"/>
          <p:cNvCxnSpPr/>
          <p:nvPr/>
        </p:nvCxnSpPr>
        <p:spPr>
          <a:xfrm>
            <a:off x="2403792" y="2839476"/>
            <a:ext cx="0" cy="15681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106"/>
          <p:cNvCxnSpPr/>
          <p:nvPr/>
        </p:nvCxnSpPr>
        <p:spPr>
          <a:xfrm>
            <a:off x="1998920" y="2835796"/>
            <a:ext cx="0" cy="15768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106"/>
          <p:cNvCxnSpPr/>
          <p:nvPr/>
        </p:nvCxnSpPr>
        <p:spPr>
          <a:xfrm>
            <a:off x="7199283" y="2837022"/>
            <a:ext cx="0" cy="1566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106"/>
          <p:cNvCxnSpPr/>
          <p:nvPr/>
        </p:nvCxnSpPr>
        <p:spPr>
          <a:xfrm>
            <a:off x="1206872" y="2835183"/>
            <a:ext cx="0" cy="15975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106"/>
          <p:cNvCxnSpPr>
            <a:stCxn id="643" idx="2"/>
          </p:cNvCxnSpPr>
          <p:nvPr/>
        </p:nvCxnSpPr>
        <p:spPr>
          <a:xfrm flipH="1">
            <a:off x="4598938" y="1496503"/>
            <a:ext cx="3600" cy="134040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106"/>
          <p:cNvCxnSpPr/>
          <p:nvPr/>
        </p:nvCxnSpPr>
        <p:spPr>
          <a:xfrm>
            <a:off x="6818868" y="2839476"/>
            <a:ext cx="0" cy="15582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106"/>
          <p:cNvCxnSpPr/>
          <p:nvPr/>
        </p:nvCxnSpPr>
        <p:spPr>
          <a:xfrm>
            <a:off x="4815613" y="2839476"/>
            <a:ext cx="0" cy="15483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106"/>
          <p:cNvCxnSpPr/>
          <p:nvPr/>
        </p:nvCxnSpPr>
        <p:spPr>
          <a:xfrm>
            <a:off x="5210117" y="2834570"/>
            <a:ext cx="0" cy="15537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106"/>
          <p:cNvCxnSpPr/>
          <p:nvPr/>
        </p:nvCxnSpPr>
        <p:spPr>
          <a:xfrm>
            <a:off x="5619681" y="2837022"/>
            <a:ext cx="0" cy="1566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106"/>
          <p:cNvCxnSpPr/>
          <p:nvPr/>
        </p:nvCxnSpPr>
        <p:spPr>
          <a:xfrm>
            <a:off x="6418379" y="2830307"/>
            <a:ext cx="0" cy="15624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106"/>
          <p:cNvCxnSpPr/>
          <p:nvPr/>
        </p:nvCxnSpPr>
        <p:spPr>
          <a:xfrm>
            <a:off x="3623998" y="2839476"/>
            <a:ext cx="0" cy="15582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106"/>
          <p:cNvCxnSpPr/>
          <p:nvPr/>
        </p:nvCxnSpPr>
        <p:spPr>
          <a:xfrm>
            <a:off x="3217686" y="2834570"/>
            <a:ext cx="0" cy="15339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106"/>
          <p:cNvCxnSpPr/>
          <p:nvPr/>
        </p:nvCxnSpPr>
        <p:spPr>
          <a:xfrm flipH="1">
            <a:off x="4018587" y="2841013"/>
            <a:ext cx="7500" cy="1470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106"/>
          <p:cNvSpPr/>
          <p:nvPr/>
        </p:nvSpPr>
        <p:spPr>
          <a:xfrm>
            <a:off x="2109141" y="3593311"/>
            <a:ext cx="5886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&lt;MaterialX Logo&gt;" id="653" name="Google Shape;653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625" y="3059003"/>
            <a:ext cx="402211" cy="31014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06"/>
          <p:cNvSpPr/>
          <p:nvPr/>
        </p:nvSpPr>
        <p:spPr>
          <a:xfrm>
            <a:off x="5320602" y="3593347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106"/>
          <p:cNvSpPr/>
          <p:nvPr/>
        </p:nvSpPr>
        <p:spPr>
          <a:xfrm>
            <a:off x="6905164" y="3594531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106"/>
          <p:cNvSpPr/>
          <p:nvPr/>
        </p:nvSpPr>
        <p:spPr>
          <a:xfrm>
            <a:off x="4518461" y="3594424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7" name="Google Shape;657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2534" y="3661480"/>
            <a:ext cx="546012" cy="273293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06"/>
          <p:cNvSpPr/>
          <p:nvPr/>
        </p:nvSpPr>
        <p:spPr>
          <a:xfrm>
            <a:off x="3725376" y="3594425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106"/>
          <p:cNvSpPr/>
          <p:nvPr/>
        </p:nvSpPr>
        <p:spPr>
          <a:xfrm>
            <a:off x="2907884" y="3594549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0" name="Google Shape;660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6619" y="3032852"/>
            <a:ext cx="524823" cy="3433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1" name="Google Shape;661;p106"/>
          <p:cNvCxnSpPr/>
          <p:nvPr/>
        </p:nvCxnSpPr>
        <p:spPr>
          <a:xfrm>
            <a:off x="1587530" y="2838249"/>
            <a:ext cx="0" cy="15792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106"/>
          <p:cNvCxnSpPr/>
          <p:nvPr/>
        </p:nvCxnSpPr>
        <p:spPr>
          <a:xfrm flipH="1" rot="10800000">
            <a:off x="461676" y="2829772"/>
            <a:ext cx="8263500" cy="48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106"/>
          <p:cNvSpPr txBox="1"/>
          <p:nvPr/>
        </p:nvSpPr>
        <p:spPr>
          <a:xfrm>
            <a:off x="289325" y="4199644"/>
            <a:ext cx="8626200" cy="320100"/>
          </a:xfrm>
          <a:prstGeom prst="rect">
            <a:avLst/>
          </a:prstGeom>
          <a:solidFill>
            <a:srgbClr val="B49823"/>
          </a:solidFill>
          <a:ln cap="flat" cmpd="sng" w="8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350" lIns="23350" spcFirstLastPara="1" rIns="23350" wrap="square" tIns="23350">
            <a:noAutofit/>
          </a:bodyPr>
          <a:lstStyle/>
          <a:p>
            <a:pPr indent="25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06"/>
          <p:cNvSpPr/>
          <p:nvPr/>
        </p:nvSpPr>
        <p:spPr>
          <a:xfrm>
            <a:off x="6146120" y="3589854"/>
            <a:ext cx="546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rPr b="0" i="0" lang="en" sz="4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rawtoaces</a:t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699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699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5" name="Google Shape;665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5642" y="3642278"/>
            <a:ext cx="346107" cy="234210"/>
          </a:xfrm>
          <a:prstGeom prst="rect">
            <a:avLst/>
          </a:prstGeom>
          <a:noFill/>
          <a:ln cap="flat" cmpd="sng" w="18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6" name="Google Shape;666;p106"/>
          <p:cNvSpPr/>
          <p:nvPr/>
        </p:nvSpPr>
        <p:spPr>
          <a:xfrm>
            <a:off x="4915596" y="2998762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t/>
            </a:r>
            <a:endParaRPr sz="43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1"/>
              <a:buFont typeface="Roboto"/>
              <a:buNone/>
            </a:pPr>
            <a:r>
              <a:rPr lang="en" sz="4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OpenRV</a:t>
            </a:r>
            <a:endParaRPr sz="4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106"/>
          <p:cNvSpPr/>
          <p:nvPr/>
        </p:nvSpPr>
        <p:spPr>
          <a:xfrm>
            <a:off x="6525573" y="2998759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8" name="Google Shape;668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101" y="3656371"/>
            <a:ext cx="408008" cy="31094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06"/>
          <p:cNvSpPr/>
          <p:nvPr/>
        </p:nvSpPr>
        <p:spPr>
          <a:xfrm>
            <a:off x="4145077" y="2998603"/>
            <a:ext cx="5460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106"/>
          <p:cNvSpPr/>
          <p:nvPr/>
        </p:nvSpPr>
        <p:spPr>
          <a:xfrm>
            <a:off x="3348623" y="2998608"/>
            <a:ext cx="5460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106"/>
          <p:cNvSpPr/>
          <p:nvPr/>
        </p:nvSpPr>
        <p:spPr>
          <a:xfrm>
            <a:off x="933916" y="2998892"/>
            <a:ext cx="5460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106"/>
          <p:cNvSpPr txBox="1"/>
          <p:nvPr/>
        </p:nvSpPr>
        <p:spPr>
          <a:xfrm>
            <a:off x="289325" y="4177950"/>
            <a:ext cx="86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25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Continuous Integration platform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106"/>
          <p:cNvCxnSpPr/>
          <p:nvPr/>
        </p:nvCxnSpPr>
        <p:spPr>
          <a:xfrm>
            <a:off x="841028" y="2839680"/>
            <a:ext cx="0" cy="15975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106"/>
          <p:cNvCxnSpPr/>
          <p:nvPr/>
        </p:nvCxnSpPr>
        <p:spPr>
          <a:xfrm>
            <a:off x="462248" y="2825600"/>
            <a:ext cx="0" cy="15975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106"/>
          <p:cNvSpPr/>
          <p:nvPr/>
        </p:nvSpPr>
        <p:spPr>
          <a:xfrm>
            <a:off x="191900" y="2998893"/>
            <a:ext cx="5457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262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106"/>
          <p:cNvSpPr/>
          <p:nvPr/>
        </p:nvSpPr>
        <p:spPr>
          <a:xfrm>
            <a:off x="561564" y="3594648"/>
            <a:ext cx="5460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699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7" name="Google Shape;677;p106" title="IMG_8648.jpe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801" y="3100105"/>
            <a:ext cx="500642" cy="19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106" title="openapv-horizontal-black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1631" y="3140677"/>
            <a:ext cx="489469" cy="147944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06"/>
          <p:cNvSpPr/>
          <p:nvPr/>
        </p:nvSpPr>
        <p:spPr>
          <a:xfrm>
            <a:off x="7284673" y="2990518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0" name="Google Shape;680;p106"/>
          <p:cNvCxnSpPr>
            <a:stCxn id="643" idx="3"/>
            <a:endCxn id="681" idx="1"/>
          </p:cNvCxnSpPr>
          <p:nvPr/>
        </p:nvCxnSpPr>
        <p:spPr>
          <a:xfrm flipH="1" rot="10800000">
            <a:off x="6099388" y="1226053"/>
            <a:ext cx="183300" cy="1200"/>
          </a:xfrm>
          <a:prstGeom prst="straightConnector1">
            <a:avLst/>
          </a:prstGeom>
          <a:noFill/>
          <a:ln cap="flat" cmpd="sng" w="10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p106"/>
          <p:cNvCxnSpPr/>
          <p:nvPr/>
        </p:nvCxnSpPr>
        <p:spPr>
          <a:xfrm flipH="1" rot="10800000">
            <a:off x="2924111" y="1226047"/>
            <a:ext cx="183600" cy="1200"/>
          </a:xfrm>
          <a:prstGeom prst="straightConnector1">
            <a:avLst/>
          </a:prstGeom>
          <a:noFill/>
          <a:ln cap="flat" cmpd="sng" w="10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3" name="Google Shape;683;p106"/>
          <p:cNvGrpSpPr/>
          <p:nvPr/>
        </p:nvGrpSpPr>
        <p:grpSpPr>
          <a:xfrm>
            <a:off x="1089548" y="958003"/>
            <a:ext cx="7025749" cy="538500"/>
            <a:chOff x="797523" y="604708"/>
            <a:chExt cx="7025749" cy="538500"/>
          </a:xfrm>
        </p:grpSpPr>
        <p:grpSp>
          <p:nvGrpSpPr>
            <p:cNvPr id="684" name="Google Shape;684;p106"/>
            <p:cNvGrpSpPr/>
            <p:nvPr/>
          </p:nvGrpSpPr>
          <p:grpSpPr>
            <a:xfrm>
              <a:off x="5990642" y="707491"/>
              <a:ext cx="1832631" cy="330419"/>
              <a:chOff x="4" y="13"/>
              <a:chExt cx="3114600" cy="661500"/>
            </a:xfrm>
          </p:grpSpPr>
          <p:sp>
            <p:nvSpPr>
              <p:cNvPr id="681" name="Google Shape;681;p106"/>
              <p:cNvSpPr/>
              <p:nvPr/>
            </p:nvSpPr>
            <p:spPr>
              <a:xfrm>
                <a:off x="4" y="13"/>
                <a:ext cx="3114600" cy="661500"/>
              </a:xfrm>
              <a:prstGeom prst="rect">
                <a:avLst/>
              </a:prstGeom>
              <a:solidFill>
                <a:srgbClr val="FFFFFF"/>
              </a:solidFill>
              <a:ln cap="flat" cmpd="sng" w="26600">
                <a:solidFill>
                  <a:srgbClr val="B4982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652"/>
                  <a:buFont typeface="Roboto"/>
                  <a:buNone/>
                </a:pPr>
                <a:r>
                  <a:t/>
                </a:r>
                <a:endParaRPr b="0" i="0" sz="652" u="none" cap="none" strike="noStrik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5" name="Google Shape;685;p106"/>
              <p:cNvSpPr txBox="1"/>
              <p:nvPr/>
            </p:nvSpPr>
            <p:spPr>
              <a:xfrm>
                <a:off x="177579" y="132331"/>
                <a:ext cx="2729400" cy="460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1725" lIns="21725" spcFirstLastPara="1" rIns="21725" wrap="square" tIns="21725">
                <a:spAutoFit/>
              </a:bodyPr>
              <a:lstStyle/>
              <a:p>
                <a:pPr indent="23641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31"/>
                  <a:buFont typeface="Roboto"/>
                  <a:buNone/>
                </a:pPr>
                <a:r>
                  <a:rPr b="0" i="0" lang="en" sz="1210" u="none" cap="none" strike="noStrike">
                    <a:solidFill>
                      <a:srgbClr val="B49823"/>
                    </a:solidFill>
                    <a:latin typeface="Roboto"/>
                    <a:ea typeface="Roboto"/>
                    <a:cs typeface="Roboto"/>
                    <a:sym typeface="Roboto"/>
                  </a:rPr>
                  <a:t>Outreach Committee</a:t>
                </a:r>
                <a:endParaRPr b="0" i="0" sz="931" u="none" cap="none" strike="noStrike">
                  <a:solidFill>
                    <a:srgbClr val="B4982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3" name="Google Shape;643;p106"/>
            <p:cNvSpPr/>
            <p:nvPr/>
          </p:nvSpPr>
          <p:spPr>
            <a:xfrm>
              <a:off x="2813663" y="604708"/>
              <a:ext cx="2993700" cy="538500"/>
            </a:xfrm>
            <a:prstGeom prst="rect">
              <a:avLst/>
            </a:prstGeom>
            <a:solidFill>
              <a:srgbClr val="FFFFFF"/>
            </a:solidFill>
            <a:ln cap="flat" cmpd="sng" w="26600">
              <a:solidFill>
                <a:srgbClr val="B498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652"/>
                <a:buFont typeface="Roboto"/>
                <a:buNone/>
              </a:pPr>
              <a:r>
                <a:t/>
              </a:r>
              <a:endParaRPr b="0" i="0" sz="652" u="none" cap="none" strike="noStrik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6" name="Google Shape;686;p106"/>
            <p:cNvSpPr txBox="1"/>
            <p:nvPr/>
          </p:nvSpPr>
          <p:spPr>
            <a:xfrm>
              <a:off x="2862616" y="643880"/>
              <a:ext cx="2884500" cy="422100"/>
            </a:xfrm>
            <a:prstGeom prst="rect">
              <a:avLst/>
            </a:prstGeom>
            <a:noFill/>
            <a:ln cap="flat" cmpd="sng" w="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1725" lIns="21725" spcFirstLastPara="1" rIns="21725" wrap="square" tIns="21725">
              <a:spAutoFit/>
            </a:bodyPr>
            <a:lstStyle/>
            <a:p>
              <a:pPr indent="23641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303"/>
                <a:buFont typeface="Roboto"/>
                <a:buNone/>
              </a:pPr>
              <a:r>
                <a:rPr b="1" i="0" lang="en" sz="1275" u="none" cap="none" strike="noStrike">
                  <a:solidFill>
                    <a:srgbClr val="B49823"/>
                  </a:solidFill>
                  <a:latin typeface="Roboto"/>
                  <a:ea typeface="Roboto"/>
                  <a:cs typeface="Roboto"/>
                  <a:sym typeface="Roboto"/>
                </a:rPr>
                <a:t>TAC</a:t>
              </a:r>
              <a:endParaRPr b="1" i="0" sz="624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41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303"/>
                <a:buFont typeface="Roboto"/>
                <a:buNone/>
              </a:pPr>
              <a:r>
                <a:rPr b="0" i="0" lang="en" sz="1182" u="none" cap="none" strike="noStrike">
                  <a:solidFill>
                    <a:srgbClr val="3F3F3F"/>
                  </a:solidFill>
                  <a:latin typeface="Roboto"/>
                  <a:ea typeface="Roboto"/>
                  <a:cs typeface="Roboto"/>
                  <a:sym typeface="Roboto"/>
                </a:rPr>
                <a:t>Technical Advisory Council</a:t>
              </a:r>
              <a:endParaRPr b="0" i="0" sz="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7" name="Google Shape;687;p106"/>
            <p:cNvGrpSpPr/>
            <p:nvPr/>
          </p:nvGrpSpPr>
          <p:grpSpPr>
            <a:xfrm>
              <a:off x="797523" y="708396"/>
              <a:ext cx="1832411" cy="330869"/>
              <a:chOff x="-1" y="-1"/>
              <a:chExt cx="2980500" cy="662400"/>
            </a:xfrm>
          </p:grpSpPr>
          <p:sp>
            <p:nvSpPr>
              <p:cNvPr id="688" name="Google Shape;688;p106"/>
              <p:cNvSpPr/>
              <p:nvPr/>
            </p:nvSpPr>
            <p:spPr>
              <a:xfrm>
                <a:off x="-1" y="-1"/>
                <a:ext cx="2980500" cy="662400"/>
              </a:xfrm>
              <a:prstGeom prst="rect">
                <a:avLst/>
              </a:prstGeom>
              <a:solidFill>
                <a:srgbClr val="FFFFFF"/>
              </a:solidFill>
              <a:ln cap="flat" cmpd="sng" w="26600">
                <a:solidFill>
                  <a:srgbClr val="B4982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652"/>
                  <a:buFont typeface="Roboto"/>
                  <a:buNone/>
                </a:pPr>
                <a:r>
                  <a:t/>
                </a:r>
                <a:endParaRPr b="0" i="0" sz="652" u="none" cap="none" strike="noStrik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9" name="Google Shape;689;p106"/>
              <p:cNvSpPr txBox="1"/>
              <p:nvPr/>
            </p:nvSpPr>
            <p:spPr>
              <a:xfrm>
                <a:off x="166919" y="132346"/>
                <a:ext cx="2676600" cy="460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1725" lIns="21725" spcFirstLastPara="1" rIns="21725" wrap="square" tIns="21725">
                <a:spAutoFit/>
              </a:bodyPr>
              <a:lstStyle/>
              <a:p>
                <a:pPr indent="23641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31"/>
                  <a:buFont typeface="Roboto"/>
                  <a:buNone/>
                </a:pPr>
                <a:r>
                  <a:rPr b="0" i="0" lang="en" sz="1210" u="none" cap="none" strike="noStrike">
                    <a:solidFill>
                      <a:srgbClr val="B49823"/>
                    </a:solidFill>
                    <a:latin typeface="Roboto"/>
                    <a:ea typeface="Roboto"/>
                    <a:cs typeface="Roboto"/>
                    <a:sym typeface="Roboto"/>
                  </a:rPr>
                  <a:t>Governing Board</a:t>
                </a:r>
                <a:endParaRPr b="0" i="0" sz="931" u="none" cap="none" strike="noStrike">
                  <a:solidFill>
                    <a:srgbClr val="B4982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690" name="Google Shape;690;p106"/>
          <p:cNvCxnSpPr/>
          <p:nvPr/>
        </p:nvCxnSpPr>
        <p:spPr>
          <a:xfrm>
            <a:off x="7956271" y="2828751"/>
            <a:ext cx="0" cy="1545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106"/>
          <p:cNvCxnSpPr/>
          <p:nvPr/>
        </p:nvCxnSpPr>
        <p:spPr>
          <a:xfrm>
            <a:off x="8338010" y="2828751"/>
            <a:ext cx="0" cy="1545000"/>
          </a:xfrm>
          <a:prstGeom prst="straightConnector1">
            <a:avLst/>
          </a:prstGeom>
          <a:noFill/>
          <a:ln cap="flat" cmpd="sng" w="131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p106"/>
          <p:cNvSpPr/>
          <p:nvPr/>
        </p:nvSpPr>
        <p:spPr>
          <a:xfrm>
            <a:off x="7664331" y="3592924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106"/>
          <p:cNvSpPr/>
          <p:nvPr/>
        </p:nvSpPr>
        <p:spPr>
          <a:xfrm>
            <a:off x="8043775" y="2990483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4" name="Google Shape;694;p10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18730" y="3667214"/>
            <a:ext cx="279687" cy="28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106" title="ASWF_DNA Project Logo_Color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1871" y="3104797"/>
            <a:ext cx="524820" cy="218852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06"/>
          <p:cNvSpPr/>
          <p:nvPr/>
        </p:nvSpPr>
        <p:spPr>
          <a:xfrm>
            <a:off x="1701466" y="3005174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sz="699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t/>
            </a:r>
            <a:endParaRPr sz="873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Arial"/>
              <a:buNone/>
            </a:pPr>
            <a:r>
              <a:rPr b="1" lang="en" sz="786">
                <a:latin typeface="Roboto"/>
                <a:ea typeface="Roboto"/>
                <a:cs typeface="Roboto"/>
                <a:sym typeface="Roboto"/>
              </a:rPr>
              <a:t>DPEL</a:t>
            </a:r>
            <a:endParaRPr b="1" i="0" sz="786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7" name="Google Shape;697;p106" title="dpel-icon-black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24550" y="3057466"/>
            <a:ext cx="343475" cy="198362"/>
          </a:xfrm>
          <a:prstGeom prst="rect">
            <a:avLst/>
          </a:prstGeom>
          <a:noFill/>
          <a:ln cap="flat" cmpd="sng" w="18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8" name="Google Shape;698;p10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87427" y="3047276"/>
            <a:ext cx="461440" cy="303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10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16852" y="3038392"/>
            <a:ext cx="408005" cy="35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10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330862" y="3142676"/>
            <a:ext cx="493828" cy="9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10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38185" y="3034942"/>
            <a:ext cx="408009" cy="31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10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4718" y="3638535"/>
            <a:ext cx="279686" cy="318819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06"/>
          <p:cNvSpPr/>
          <p:nvPr/>
        </p:nvSpPr>
        <p:spPr>
          <a:xfrm>
            <a:off x="1308721" y="3603076"/>
            <a:ext cx="588300" cy="417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1"/>
              <a:buFont typeface="Roboto"/>
              <a:buNone/>
            </a:pPr>
            <a:r>
              <a:t/>
            </a:r>
            <a:endParaRPr b="0" i="0" sz="43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4" name="Google Shape;704;p10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91953" y="3662290"/>
            <a:ext cx="407991" cy="310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10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952756" y="3627707"/>
            <a:ext cx="500557" cy="349077"/>
          </a:xfrm>
          <a:prstGeom prst="rect">
            <a:avLst/>
          </a:prstGeom>
          <a:noFill/>
          <a:ln cap="flat" cmpd="sng" w="104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6" name="Google Shape;706;p106" title="OpenQMC_Color_Stacke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725393" y="3651884"/>
            <a:ext cx="588347" cy="29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10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410758" y="3672469"/>
            <a:ext cx="408008" cy="26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10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014685" y="3644099"/>
            <a:ext cx="327115" cy="32711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06"/>
          <p:cNvSpPr/>
          <p:nvPr/>
        </p:nvSpPr>
        <p:spPr>
          <a:xfrm>
            <a:off x="206828" y="1992350"/>
            <a:ext cx="1057800" cy="364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0" name="Google Shape;710;p106" title="aswf-continuous-integration-wg-horizontal-color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70312" y="2060306"/>
            <a:ext cx="920376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106"/>
          <p:cNvSpPr/>
          <p:nvPr/>
        </p:nvSpPr>
        <p:spPr>
          <a:xfrm>
            <a:off x="1316341" y="1995650"/>
            <a:ext cx="1057800" cy="364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2" name="Google Shape;712;p106" title="aswf-diversity-inclusion-wg-horizontal-color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360828" y="2056189"/>
            <a:ext cx="971936" cy="2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06"/>
          <p:cNvSpPr/>
          <p:nvPr/>
        </p:nvSpPr>
        <p:spPr>
          <a:xfrm>
            <a:off x="3483968" y="1992200"/>
            <a:ext cx="972000" cy="364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4" name="Google Shape;714;p106" title="aswf-usd-wg-horizontal-color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622040" y="2017331"/>
            <a:ext cx="752407" cy="307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5" name="Google Shape;715;p106"/>
          <p:cNvGrpSpPr/>
          <p:nvPr/>
        </p:nvGrpSpPr>
        <p:grpSpPr>
          <a:xfrm>
            <a:off x="7122502" y="1985165"/>
            <a:ext cx="1105200" cy="364200"/>
            <a:chOff x="4790695" y="1992231"/>
            <a:chExt cx="1105200" cy="364200"/>
          </a:xfrm>
        </p:grpSpPr>
        <p:sp>
          <p:nvSpPr>
            <p:cNvPr id="716" name="Google Shape;716;p106"/>
            <p:cNvSpPr/>
            <p:nvPr/>
          </p:nvSpPr>
          <p:spPr>
            <a:xfrm>
              <a:off x="4790695" y="1992231"/>
              <a:ext cx="1105200" cy="364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498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3145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27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45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27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45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17" name="Google Shape;717;p106" title="aswf-zero-trust-wg-horizontal-color.png"/>
            <p:cNvPicPr preferRelativeResize="0"/>
            <p:nvPr/>
          </p:nvPicPr>
          <p:blipFill>
            <a:blip r:embed="rId26">
              <a:alphaModFix/>
            </a:blip>
            <a:stretch>
              <a:fillRect/>
            </a:stretch>
          </p:blipFill>
          <p:spPr>
            <a:xfrm>
              <a:off x="4882116" y="2039624"/>
              <a:ext cx="914939" cy="228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18" name="Google Shape;718;p106"/>
          <p:cNvCxnSpPr/>
          <p:nvPr/>
        </p:nvCxnSpPr>
        <p:spPr>
          <a:xfrm>
            <a:off x="700100" y="1809750"/>
            <a:ext cx="7020000" cy="0"/>
          </a:xfrm>
          <a:prstGeom prst="straightConnector1">
            <a:avLst/>
          </a:prstGeom>
          <a:noFill/>
          <a:ln cap="flat" cmpd="sng" w="137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19" name="Google Shape;719;p106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8622697" y="3629600"/>
            <a:ext cx="228300" cy="2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06"/>
          <p:cNvSpPr/>
          <p:nvPr/>
        </p:nvSpPr>
        <p:spPr>
          <a:xfrm>
            <a:off x="5947069" y="1985482"/>
            <a:ext cx="1105200" cy="364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106"/>
          <p:cNvSpPr/>
          <p:nvPr/>
        </p:nvSpPr>
        <p:spPr>
          <a:xfrm>
            <a:off x="2422656" y="1991681"/>
            <a:ext cx="1012800" cy="364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5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273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Roboto"/>
              <a:buNone/>
            </a:pPr>
            <a:r>
              <a:t/>
            </a:r>
            <a:endParaRPr b="0" i="0" sz="455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2" name="Google Shape;722;p106"/>
          <p:cNvGrpSpPr/>
          <p:nvPr/>
        </p:nvGrpSpPr>
        <p:grpSpPr>
          <a:xfrm>
            <a:off x="4764631" y="1975621"/>
            <a:ext cx="1110157" cy="378600"/>
            <a:chOff x="6011875" y="1984665"/>
            <a:chExt cx="1110157" cy="378600"/>
          </a:xfrm>
        </p:grpSpPr>
        <p:sp>
          <p:nvSpPr>
            <p:cNvPr id="723" name="Google Shape;723;p106"/>
            <p:cNvSpPr/>
            <p:nvPr/>
          </p:nvSpPr>
          <p:spPr>
            <a:xfrm>
              <a:off x="6016832" y="1995627"/>
              <a:ext cx="1105200" cy="364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4982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3145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27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45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27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47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2"/>
                <a:buFont typeface="Roboto"/>
                <a:buNone/>
              </a:pPr>
              <a:r>
                <a:t/>
              </a:r>
              <a:endParaRPr b="0" i="0" sz="45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106"/>
            <p:cNvSpPr txBox="1"/>
            <p:nvPr/>
          </p:nvSpPr>
          <p:spPr>
            <a:xfrm>
              <a:off x="6011875" y="1984665"/>
              <a:ext cx="11052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31CFD7"/>
                  </a:solidFill>
                </a:rPr>
                <a:t>MACHINE LEARNING WORKING GROUP</a:t>
              </a:r>
              <a:endParaRPr sz="700">
                <a:solidFill>
                  <a:srgbClr val="31CFD7"/>
                </a:solidFill>
              </a:endParaRPr>
            </a:p>
          </p:txBody>
        </p:sp>
      </p:grpSp>
      <p:sp>
        <p:nvSpPr>
          <p:cNvPr id="725" name="Google Shape;725;p106"/>
          <p:cNvSpPr txBox="1"/>
          <p:nvPr/>
        </p:nvSpPr>
        <p:spPr>
          <a:xfrm>
            <a:off x="5943196" y="1971738"/>
            <a:ext cx="11052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CFD7"/>
                </a:solidFill>
              </a:rPr>
              <a:t>WAYLAND    WORKING GROUP</a:t>
            </a:r>
            <a:endParaRPr sz="700">
              <a:solidFill>
                <a:srgbClr val="31CFD7"/>
              </a:solidFill>
            </a:endParaRPr>
          </a:p>
        </p:txBody>
      </p:sp>
      <p:pic>
        <p:nvPicPr>
          <p:cNvPr id="726" name="Google Shape;726;p106" title="open-review-initiative-horizontal-color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473244" y="2081881"/>
            <a:ext cx="920376" cy="174383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7" name="Google Shape;727;p106" title="openrv-horizontal-black.png"/>
          <p:cNvPicPr preferRelativeResize="0"/>
          <p:nvPr/>
        </p:nvPicPr>
        <p:blipFill rotWithShape="1">
          <a:blip r:embed="rId29">
            <a:alphaModFix/>
          </a:blip>
          <a:srcRect b="0" l="0" r="64644" t="0"/>
          <a:stretch/>
        </p:blipFill>
        <p:spPr>
          <a:xfrm>
            <a:off x="5081380" y="3049055"/>
            <a:ext cx="260335" cy="234223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7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Business &amp; Marketing Leadership</a:t>
            </a:r>
            <a:endParaRPr sz="19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Governing Board (Governing Board)</a:t>
            </a:r>
            <a:endParaRPr sz="1600"/>
          </a:p>
          <a:p>
            <a:pPr indent="-311150" lvl="2" marL="1371600" rtl="0" algn="l">
              <a:spcBef>
                <a:spcPts val="4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Budget Committee</a:t>
            </a:r>
            <a:endParaRPr sz="1300"/>
          </a:p>
          <a:p>
            <a:pPr indent="-311150" lvl="2" marL="1371600" rtl="0" algn="l">
              <a:spcBef>
                <a:spcPts val="4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Legal Committee</a:t>
            </a:r>
            <a:endParaRPr sz="13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Outreach Committee</a:t>
            </a:r>
            <a:endParaRPr sz="16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Technical Leadership</a:t>
            </a:r>
            <a:endParaRPr sz="19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Technical Advisory Council (TAC)</a:t>
            </a:r>
            <a:r>
              <a:rPr lang="en" sz="1600"/>
              <a:t> </a:t>
            </a:r>
            <a:endParaRPr sz="1600"/>
          </a:p>
          <a:p>
            <a:pPr indent="-311150" lvl="2" marL="1371600" rtl="0" algn="l">
              <a:spcBef>
                <a:spcPts val="4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You can review </a:t>
            </a:r>
            <a:r>
              <a:rPr lang="en" sz="1300"/>
              <a:t>the TAC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meeting information and upcoming schedule</a:t>
            </a:r>
            <a:r>
              <a:rPr lang="en" sz="1300"/>
              <a:t> and join the mailing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list</a:t>
            </a:r>
            <a:endParaRPr sz="13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Hosted Projects and Working Groups</a:t>
            </a:r>
            <a:endParaRPr sz="1900"/>
          </a:p>
        </p:txBody>
      </p:sp>
      <p:sp>
        <p:nvSpPr>
          <p:cNvPr id="733" name="Google Shape;733;p107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Governing Bodies and Committees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8"/>
          <p:cNvSpPr txBox="1"/>
          <p:nvPr>
            <p:ph type="title"/>
          </p:nvPr>
        </p:nvSpPr>
        <p:spPr>
          <a:xfrm>
            <a:off x="628800" y="1348525"/>
            <a:ext cx="7886400" cy="14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Governing Board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The Governing Board’s responsibilities include: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Approving the Academy Software Foundation budget, directing the use of funds to advance the mission of the Academy Software Foundation;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Directing marketing and outreach efforts;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Providing financial governance overall;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Voting on other decisions that come before the Governing Board.</a:t>
            </a:r>
            <a:endParaRPr sz="1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/>
              <a:t>Additional responsibilities are described in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Section 3</a:t>
            </a:r>
            <a:r>
              <a:rPr lang="en" sz="1700"/>
              <a:t> of the Academy Software Foundation Charter.</a:t>
            </a:r>
            <a:endParaRPr sz="1700"/>
          </a:p>
        </p:txBody>
      </p:sp>
      <p:sp>
        <p:nvSpPr>
          <p:cNvPr id="744" name="Google Shape;744;p109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Responsibilities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10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200"/>
              <a:t>What the Governing Board is NOT responsible for</a:t>
            </a:r>
            <a:endParaRPr sz="2200"/>
          </a:p>
        </p:txBody>
      </p:sp>
      <p:sp>
        <p:nvSpPr>
          <p:cNvPr id="750" name="Google Shape;750;p110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does </a:t>
            </a:r>
            <a:r>
              <a:rPr b="1" lang="en" sz="1900"/>
              <a:t>not</a:t>
            </a:r>
            <a:r>
              <a:rPr lang="en" sz="1900"/>
              <a:t> make technical decisions for Academy Software Foundation other than working with the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TAC</a:t>
            </a:r>
            <a:r>
              <a:rPr lang="en" sz="1900"/>
              <a:t> to set the overall scope for the Academy Software Foundation. 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is </a:t>
            </a:r>
            <a:r>
              <a:rPr b="1" lang="en" sz="1900"/>
              <a:t>not</a:t>
            </a:r>
            <a:r>
              <a:rPr lang="en" sz="1900"/>
              <a:t> responsible for overseeing day-to-day operations of Academy Software Foundation. This is the responsibility of the foundation staff.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is </a:t>
            </a:r>
            <a:r>
              <a:rPr b="1" lang="en" sz="1900"/>
              <a:t>not</a:t>
            </a:r>
            <a:r>
              <a:rPr lang="en" sz="1900"/>
              <a:t> a Board of Directors; it is a committee that provides budget oversight and direction. There are no personal liabilities for individual Governing Board representatives.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11"/>
          <p:cNvSpPr txBox="1"/>
          <p:nvPr>
            <p:ph type="title"/>
          </p:nvPr>
        </p:nvSpPr>
        <p:spPr>
          <a:xfrm>
            <a:off x="694125" y="1275325"/>
            <a:ext cx="7886400" cy="14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Governing Board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1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The Governing Board voting members consist of:</a:t>
            </a:r>
            <a:endParaRPr/>
          </a:p>
          <a:p>
            <a:pPr indent="-361950" lvl="0" marL="9144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One representative appointed from each Premier member; and</a:t>
            </a:r>
            <a:endParaRPr/>
          </a:p>
          <a:p>
            <a:pPr indent="-361950" lvl="0" marL="9144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General member elected representatives </a:t>
            </a:r>
            <a:r>
              <a:rPr lang="en"/>
              <a:t>(if any)</a:t>
            </a:r>
            <a:endParaRPr/>
          </a:p>
          <a:p>
            <a:pPr indent="-361950" lvl="0" marL="9144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The TAC Chairperson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Section 3(a)</a:t>
            </a:r>
            <a:r>
              <a:rPr lang="en"/>
              <a:t> of the Academy Software Foundation Charter for more information about composition.</a:t>
            </a:r>
            <a:endParaRPr/>
          </a:p>
        </p:txBody>
      </p:sp>
      <p:sp>
        <p:nvSpPr>
          <p:cNvPr id="761" name="Google Shape;761;p112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Composition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13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3200" u="none" cap="none" strike="noStrike"/>
              <a:t>Governing Board Representatives</a:t>
            </a:r>
            <a:endParaRPr b="0" i="0" sz="3200" u="none" cap="none" strike="noStrike"/>
          </a:p>
        </p:txBody>
      </p:sp>
      <p:pic>
        <p:nvPicPr>
          <p:cNvPr id="768" name="Google Shape;768;p113" title="Screenshot 2026-07-15 at 3.40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13" y="934000"/>
            <a:ext cx="8221763" cy="410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8400" y="970625"/>
            <a:ext cx="723000" cy="72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14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Governing Board Representative Characteristics</a:t>
            </a:r>
            <a:endParaRPr sz="2300"/>
          </a:p>
        </p:txBody>
      </p:sp>
      <p:sp>
        <p:nvSpPr>
          <p:cNvPr id="775" name="Google Shape;775;p114"/>
          <p:cNvSpPr txBox="1"/>
          <p:nvPr>
            <p:ph idx="1" type="body"/>
          </p:nvPr>
        </p:nvSpPr>
        <p:spPr>
          <a:xfrm>
            <a:off x="628634" y="1105444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Knowledgeable / has experience in technology and open source in the media and entertainment industry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Has a point of view on the industry’s future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a strategic thinker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Has previous board experience as a plus, but not necessary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results-driven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an effective communicator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respectful of other points of view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an influential and empowered decision-maker within their own organization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able to create an environment within their organization for developing future ASWF leaders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able to develop a Governing Board member pipeline within their own organization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Has demonstrated willingness to contribute, to participate in board/committee activities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Will advocate for the ASWF within their organization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Is committed to make the ASWF as an organization and as a community more diverse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15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Premier and General</a:t>
            </a:r>
            <a:r>
              <a:rPr lang="en" sz="1200"/>
              <a:t> member companies with appointed representatives on the Governing Board may appoint alternates.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Alternates may attend all Governing Board meetings. </a:t>
            </a:r>
            <a:endParaRPr sz="1200"/>
          </a:p>
          <a:p>
            <a:pPr indent="-285750" lvl="1" marL="914400" rtl="0" algn="l">
              <a:spcBef>
                <a:spcPts val="40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If the primary representative is present, the alternate may participate in listen-only mode and may not vote or speak. </a:t>
            </a:r>
            <a:endParaRPr sz="900"/>
          </a:p>
          <a:p>
            <a:pPr indent="-285750" lvl="1" marL="914400" rtl="0" algn="l">
              <a:spcBef>
                <a:spcPts val="40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Only if the primary representative is unable to attend the meeting, the alternate may speak and vote in lieu of the primary representative.</a:t>
            </a:r>
            <a:endParaRPr sz="9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At Strategy and Leadership Meetings (at which no voting occurs), both primary and alternate representatives may speak (the alternate does not need to participate in listen-only mode)</a:t>
            </a:r>
            <a:endParaRPr sz="1200"/>
          </a:p>
        </p:txBody>
      </p:sp>
      <p:sp>
        <p:nvSpPr>
          <p:cNvPr id="781" name="Google Shape;781;p115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Alternates Policy</a:t>
            </a:r>
            <a:endParaRPr/>
          </a:p>
        </p:txBody>
      </p:sp>
      <p:sp>
        <p:nvSpPr>
          <p:cNvPr id="782" name="Google Shape;782;p115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ACTION: To appoint your representative and your alternate, please file a request at </a:t>
            </a:r>
            <a:r>
              <a:rPr b="1" lang="en" sz="1700" u="sng">
                <a:solidFill>
                  <a:schemeClr val="hlink"/>
                </a:solidFill>
                <a:hlinkClick r:id="rId3"/>
              </a:rPr>
              <a:t>members.aswf.io</a:t>
            </a:r>
            <a:r>
              <a:rPr b="1" lang="en" sz="1700"/>
              <a:t>, and have the representatives create an </a:t>
            </a:r>
            <a:r>
              <a:rPr b="1" lang="en" sz="1700" u="sng">
                <a:solidFill>
                  <a:schemeClr val="hlink"/>
                </a:solidFill>
                <a:hlinkClick r:id="rId4"/>
              </a:rPr>
              <a:t>LF ID</a:t>
            </a:r>
            <a:r>
              <a:rPr b="1" lang="en" sz="1700"/>
              <a:t>.</a:t>
            </a:r>
            <a:endParaRPr b="1"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700"/>
              <a:t>You can change your representative at any time by making a request at </a:t>
            </a:r>
            <a:r>
              <a:rPr i="1" lang="en" sz="1700" u="sng">
                <a:solidFill>
                  <a:schemeClr val="hlink"/>
                </a:solidFill>
                <a:hlinkClick r:id="rId5"/>
              </a:rPr>
              <a:t>members.aswf.io</a:t>
            </a:r>
            <a:r>
              <a:rPr i="1" lang="en" sz="1700"/>
              <a:t>.</a:t>
            </a:r>
            <a:endParaRPr i="1" sz="1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16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3200" u="none" cap="none" strike="noStrike"/>
              <a:t>Governing Board Alternates</a:t>
            </a:r>
            <a:endParaRPr b="0" i="0" sz="3200" u="none" cap="none" strike="noStrike"/>
          </a:p>
        </p:txBody>
      </p:sp>
      <p:pic>
        <p:nvPicPr>
          <p:cNvPr id="789" name="Google Shape;789;p116" title="Screenshot 2026-07-15 at 3.44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88" y="946825"/>
            <a:ext cx="7868835" cy="410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7600" y="3695275"/>
            <a:ext cx="794400" cy="794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17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 Policy</a:t>
            </a:r>
            <a:endParaRPr/>
          </a:p>
        </p:txBody>
      </p:sp>
      <p:sp>
        <p:nvSpPr>
          <p:cNvPr id="796" name="Google Shape;796;p117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Maximum term for any Governing Board representative is 4 years.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Individuals may serve again on the Governing Board after a two year break between terms.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Individual may serve as an alternate during the two year break.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There are no lifetime term limits.</a:t>
            </a:r>
            <a:endParaRPr sz="17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Governing Board target goal of rotating 25% of Governing Board representatives on an annual basis.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If there are less that 25% of new representatives, the Governing Board may request longer tenured representatives to appoint a replacement.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18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</a:t>
            </a:r>
            <a:r>
              <a:rPr lang="en"/>
              <a:t> Chairperson</a:t>
            </a:r>
            <a:endParaRPr/>
          </a:p>
        </p:txBody>
      </p:sp>
      <p:sp>
        <p:nvSpPr>
          <p:cNvPr id="802" name="Google Shape;802;p11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Annually in January, the </a:t>
            </a:r>
            <a:r>
              <a:rPr lang="en" sz="1500"/>
              <a:t>Governing Board</a:t>
            </a:r>
            <a:r>
              <a:rPr lang="en" sz="1500"/>
              <a:t> will elect a chairperson to serve for the current year.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Duties of the </a:t>
            </a:r>
            <a:r>
              <a:rPr lang="en" sz="1500"/>
              <a:t>Governing Board</a:t>
            </a:r>
            <a:r>
              <a:rPr lang="en" sz="1500"/>
              <a:t> Chairperson include: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Oversee </a:t>
            </a:r>
            <a:r>
              <a:rPr lang="en" sz="1500"/>
              <a:t>the</a:t>
            </a:r>
            <a:r>
              <a:rPr lang="en" sz="1500"/>
              <a:t> day-to-day operational decision</a:t>
            </a:r>
            <a:r>
              <a:rPr lang="en" sz="1500"/>
              <a:t>s</a:t>
            </a:r>
            <a:r>
              <a:rPr lang="en" sz="1500"/>
              <a:t> of the Academy Software Foundation.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Work with the foundation staff to prepare the agenda for Governing Board meetings.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Be a spokesperson for the Academy Software Foundation and the Governing Board, as needed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See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Section 3(c)</a:t>
            </a:r>
            <a:r>
              <a:rPr lang="en" sz="1500"/>
              <a:t> of the Academy Software Foundation Charter for more information about the chairperson role.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19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Treasurer</a:t>
            </a:r>
            <a:endParaRPr/>
          </a:p>
        </p:txBody>
      </p:sp>
      <p:sp>
        <p:nvSpPr>
          <p:cNvPr id="808" name="Google Shape;808;p11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Annually in January, the Governing Board will elect a treasurer to serve for the current year.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Duties of the Governing Board </a:t>
            </a:r>
            <a:r>
              <a:rPr lang="en" sz="1500"/>
              <a:t>Treasurer</a:t>
            </a:r>
            <a:r>
              <a:rPr lang="en" sz="1500"/>
              <a:t> include: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Serve as </a:t>
            </a:r>
            <a:r>
              <a:rPr lang="en" sz="1500"/>
              <a:t>the</a:t>
            </a:r>
            <a:r>
              <a:rPr lang="en" sz="1500"/>
              <a:t> chairperson of the Budget Committee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Work with the foundation staff to prepare financial updates and reforecasts to the Budget Committee and Governing Board.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Work with the foundation staff in preparing and leading the approval of the annual budget.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See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Section 3(c)</a:t>
            </a:r>
            <a:r>
              <a:rPr lang="en" sz="1500"/>
              <a:t> of the Academy Software Foundation Charter for more information about the treasurer role.</a:t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20"/>
          <p:cNvSpPr txBox="1"/>
          <p:nvPr>
            <p:ph type="title"/>
          </p:nvPr>
        </p:nvSpPr>
        <p:spPr>
          <a:xfrm>
            <a:off x="628800" y="1158450"/>
            <a:ext cx="7886400" cy="14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Meetings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21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 Governing Board has monthly virtual regular meetings, generally on the fourth Thursday of each month.</a:t>
            </a:r>
            <a:endParaRPr sz="1300"/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Format for the meetings alternates between a formal business meeting and strategy session</a:t>
            </a:r>
            <a:endParaRPr sz="1300"/>
          </a:p>
          <a:p>
            <a:pPr indent="-292100" lvl="1" marL="914400" rtl="0" algn="l">
              <a:spcBef>
                <a:spcPts val="4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At the formal business meetings, voting will often take place.</a:t>
            </a:r>
            <a:endParaRPr sz="1000"/>
          </a:p>
          <a:p>
            <a:pPr indent="-292100" lvl="1" marL="914400" rtl="0" algn="l">
              <a:spcBef>
                <a:spcPts val="4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For the strategy meetings, the Governing Board will align on a topic to discuss at the previous business meeting.</a:t>
            </a:r>
            <a:endParaRPr sz="1000"/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Additionally, the Governing Board has two hybrid Leadership Meetings sessions per year (at Open Source Forum in February and Open Source Days in August).</a:t>
            </a:r>
            <a:endParaRPr sz="1300"/>
          </a:p>
          <a:p>
            <a:pPr indent="-292100" lvl="1" marL="914400" rtl="0" algn="l">
              <a:spcBef>
                <a:spcPts val="4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TAC voting members and a representative from each General Member are invited to Strategy Sessions.</a:t>
            </a:r>
            <a:endParaRPr sz="1000"/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 rare and exceptional circumstances (e.g., in an emergency situation), an additional ad hoc </a:t>
            </a:r>
            <a:r>
              <a:rPr lang="en" sz="1300"/>
              <a:t>special meeting</a:t>
            </a:r>
            <a:r>
              <a:rPr lang="en" sz="1300"/>
              <a:t> of the Governing Board may be convened. </a:t>
            </a:r>
            <a:endParaRPr sz="1300"/>
          </a:p>
          <a:p>
            <a:pPr indent="-292100" lvl="1" marL="914400" rtl="0" algn="l">
              <a:spcBef>
                <a:spcPts val="4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To request a special meeting, please email your request to the Foundation Staff and Governing Board Chair, and they will decide whether a special meeting is necessary or the proposed agenda item can be discussed by email or at the next regular meeting.</a:t>
            </a:r>
            <a:endParaRPr sz="1000"/>
          </a:p>
        </p:txBody>
      </p:sp>
      <p:sp>
        <p:nvSpPr>
          <p:cNvPr id="819" name="Google Shape;819;p121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Cadence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2"/>
          <p:cNvSpPr txBox="1"/>
          <p:nvPr/>
        </p:nvSpPr>
        <p:spPr>
          <a:xfrm>
            <a:off x="649650" y="4377025"/>
            <a:ext cx="7844700" cy="354000"/>
          </a:xfrm>
          <a:prstGeom prst="rect">
            <a:avLst/>
          </a:prstGeom>
          <a:noFill/>
          <a:ln cap="flat" cmpd="sng" w="9525">
            <a:solidFill>
              <a:srgbClr val="B49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Future M</a:t>
            </a:r>
            <a:r>
              <a:rPr b="1" i="0" lang="en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eetings of the Governing Board for 202</a:t>
            </a:r>
            <a:r>
              <a:rPr b="1"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b="1" i="0" lang="en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be held</a:t>
            </a:r>
            <a:r>
              <a:rPr b="1"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at</a:t>
            </a:r>
            <a:r>
              <a:rPr b="1" i="0" lang="en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1:</a:t>
            </a:r>
            <a:r>
              <a:rPr b="1" i="0" lang="en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00 pm US Pacific Time unless noted</a:t>
            </a:r>
            <a:endParaRPr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22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FY2026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Meeting Schedule</a:t>
            </a:r>
            <a:endParaRPr sz="1050"/>
          </a:p>
        </p:txBody>
      </p:sp>
      <p:cxnSp>
        <p:nvCxnSpPr>
          <p:cNvPr id="826" name="Google Shape;826;p122"/>
          <p:cNvCxnSpPr/>
          <p:nvPr/>
        </p:nvCxnSpPr>
        <p:spPr>
          <a:xfrm>
            <a:off x="917353" y="1411422"/>
            <a:ext cx="7334400" cy="0"/>
          </a:xfrm>
          <a:prstGeom prst="straightConnector1">
            <a:avLst/>
          </a:prstGeom>
          <a:noFill/>
          <a:ln cap="flat" cmpd="sng" w="36200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7" name="Google Shape;827;p122"/>
          <p:cNvSpPr/>
          <p:nvPr/>
        </p:nvSpPr>
        <p:spPr>
          <a:xfrm>
            <a:off x="820917" y="1315622"/>
            <a:ext cx="192900" cy="192900"/>
          </a:xfrm>
          <a:prstGeom prst="ellipse">
            <a:avLst/>
          </a:prstGeom>
          <a:solidFill>
            <a:srgbClr val="168FDF"/>
          </a:solidFill>
          <a:ln cap="flat" cmpd="sng" w="7150">
            <a:solidFill>
              <a:srgbClr val="168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22"/>
          <p:cNvSpPr/>
          <p:nvPr/>
        </p:nvSpPr>
        <p:spPr>
          <a:xfrm>
            <a:off x="2091659" y="1363444"/>
            <a:ext cx="96600" cy="96600"/>
          </a:xfrm>
          <a:prstGeom prst="ellipse">
            <a:avLst/>
          </a:prstGeom>
          <a:solidFill>
            <a:srgbClr val="8E006C"/>
          </a:solidFill>
          <a:ln>
            <a:noFill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22"/>
          <p:cNvSpPr/>
          <p:nvPr/>
        </p:nvSpPr>
        <p:spPr>
          <a:xfrm>
            <a:off x="3316938" y="1363312"/>
            <a:ext cx="96600" cy="96600"/>
          </a:xfrm>
          <a:prstGeom prst="ellipse">
            <a:avLst/>
          </a:prstGeom>
          <a:solidFill>
            <a:srgbClr val="8E006C"/>
          </a:solidFill>
          <a:ln>
            <a:noFill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22"/>
          <p:cNvSpPr/>
          <p:nvPr/>
        </p:nvSpPr>
        <p:spPr>
          <a:xfrm>
            <a:off x="5147264" y="1363312"/>
            <a:ext cx="96600" cy="96600"/>
          </a:xfrm>
          <a:prstGeom prst="ellipse">
            <a:avLst/>
          </a:prstGeom>
          <a:solidFill>
            <a:srgbClr val="8E006C"/>
          </a:solidFill>
          <a:ln>
            <a:noFill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22"/>
          <p:cNvSpPr/>
          <p:nvPr/>
        </p:nvSpPr>
        <p:spPr>
          <a:xfrm>
            <a:off x="6980855" y="1363312"/>
            <a:ext cx="96600" cy="96600"/>
          </a:xfrm>
          <a:prstGeom prst="ellipse">
            <a:avLst/>
          </a:prstGeom>
          <a:solidFill>
            <a:srgbClr val="8E006C"/>
          </a:solidFill>
          <a:ln>
            <a:noFill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22"/>
          <p:cNvSpPr/>
          <p:nvPr/>
        </p:nvSpPr>
        <p:spPr>
          <a:xfrm>
            <a:off x="2654509" y="1315622"/>
            <a:ext cx="192900" cy="192900"/>
          </a:xfrm>
          <a:prstGeom prst="ellipse">
            <a:avLst/>
          </a:prstGeom>
          <a:solidFill>
            <a:srgbClr val="168FDF"/>
          </a:solidFill>
          <a:ln cap="flat" cmpd="sng" w="7150">
            <a:solidFill>
              <a:srgbClr val="168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22"/>
          <p:cNvSpPr/>
          <p:nvPr/>
        </p:nvSpPr>
        <p:spPr>
          <a:xfrm>
            <a:off x="4488101" y="1315622"/>
            <a:ext cx="192900" cy="192900"/>
          </a:xfrm>
          <a:prstGeom prst="ellipse">
            <a:avLst/>
          </a:prstGeom>
          <a:solidFill>
            <a:srgbClr val="168FDF"/>
          </a:solidFill>
          <a:ln cap="flat" cmpd="sng" w="7150">
            <a:solidFill>
              <a:srgbClr val="168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22"/>
          <p:cNvSpPr/>
          <p:nvPr/>
        </p:nvSpPr>
        <p:spPr>
          <a:xfrm>
            <a:off x="6321692" y="1315622"/>
            <a:ext cx="192900" cy="192900"/>
          </a:xfrm>
          <a:prstGeom prst="ellipse">
            <a:avLst/>
          </a:prstGeom>
          <a:solidFill>
            <a:srgbClr val="168FDF"/>
          </a:solidFill>
          <a:ln cap="flat" cmpd="sng" w="7150">
            <a:solidFill>
              <a:srgbClr val="168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22"/>
          <p:cNvSpPr/>
          <p:nvPr/>
        </p:nvSpPr>
        <p:spPr>
          <a:xfrm>
            <a:off x="8155283" y="1319503"/>
            <a:ext cx="192900" cy="192900"/>
          </a:xfrm>
          <a:prstGeom prst="ellipse">
            <a:avLst/>
          </a:prstGeom>
          <a:solidFill>
            <a:srgbClr val="168FDF"/>
          </a:solidFill>
          <a:ln cap="flat" cmpd="sng" w="7150">
            <a:solidFill>
              <a:srgbClr val="168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22"/>
          <p:cNvSpPr txBox="1"/>
          <p:nvPr/>
        </p:nvSpPr>
        <p:spPr>
          <a:xfrm>
            <a:off x="669137" y="1522979"/>
            <a:ext cx="501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22"/>
          <p:cNvSpPr txBox="1"/>
          <p:nvPr/>
        </p:nvSpPr>
        <p:spPr>
          <a:xfrm>
            <a:off x="8001185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22"/>
          <p:cNvSpPr txBox="1"/>
          <p:nvPr/>
        </p:nvSpPr>
        <p:spPr>
          <a:xfrm>
            <a:off x="1280143" y="1522979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22"/>
          <p:cNvSpPr txBox="1"/>
          <p:nvPr/>
        </p:nvSpPr>
        <p:spPr>
          <a:xfrm>
            <a:off x="1891149" y="1522970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22"/>
          <p:cNvSpPr txBox="1"/>
          <p:nvPr/>
        </p:nvSpPr>
        <p:spPr>
          <a:xfrm>
            <a:off x="2502148" y="1522979"/>
            <a:ext cx="501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Apr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22"/>
          <p:cNvSpPr txBox="1"/>
          <p:nvPr/>
        </p:nvSpPr>
        <p:spPr>
          <a:xfrm>
            <a:off x="3113160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22"/>
          <p:cNvSpPr txBox="1"/>
          <p:nvPr/>
        </p:nvSpPr>
        <p:spPr>
          <a:xfrm>
            <a:off x="3724167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Jun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22"/>
          <p:cNvSpPr txBox="1"/>
          <p:nvPr/>
        </p:nvSpPr>
        <p:spPr>
          <a:xfrm>
            <a:off x="4335160" y="1522979"/>
            <a:ext cx="501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Jul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22"/>
          <p:cNvSpPr txBox="1"/>
          <p:nvPr/>
        </p:nvSpPr>
        <p:spPr>
          <a:xfrm>
            <a:off x="4946154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22"/>
          <p:cNvSpPr txBox="1"/>
          <p:nvPr/>
        </p:nvSpPr>
        <p:spPr>
          <a:xfrm>
            <a:off x="5557160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22"/>
          <p:cNvSpPr txBox="1"/>
          <p:nvPr/>
        </p:nvSpPr>
        <p:spPr>
          <a:xfrm>
            <a:off x="6168172" y="1522979"/>
            <a:ext cx="501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22"/>
          <p:cNvSpPr txBox="1"/>
          <p:nvPr/>
        </p:nvSpPr>
        <p:spPr>
          <a:xfrm>
            <a:off x="6779173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22"/>
          <p:cNvSpPr txBox="1"/>
          <p:nvPr/>
        </p:nvSpPr>
        <p:spPr>
          <a:xfrm>
            <a:off x="7390179" y="1522963"/>
            <a:ext cx="501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D5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54D55"/>
                </a:solidFill>
                <a:latin typeface="Arial"/>
                <a:ea typeface="Arial"/>
                <a:cs typeface="Arial"/>
                <a:sym typeface="Arial"/>
              </a:rPr>
              <a:t>Dec</a:t>
            </a:r>
            <a:endParaRPr b="0" i="0" sz="1100" u="none" cap="none" strike="noStrike">
              <a:solidFill>
                <a:srgbClr val="454D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22"/>
          <p:cNvSpPr txBox="1"/>
          <p:nvPr/>
        </p:nvSpPr>
        <p:spPr>
          <a:xfrm>
            <a:off x="669161" y="1739681"/>
            <a:ext cx="501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14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22"/>
          <p:cNvSpPr txBox="1"/>
          <p:nvPr/>
        </p:nvSpPr>
        <p:spPr>
          <a:xfrm>
            <a:off x="8001183" y="1737970"/>
            <a:ext cx="501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1400"/>
              <a:buFont typeface="Arial"/>
              <a:buNone/>
            </a:pPr>
            <a:r>
              <a:rPr b="0" i="0" lang="en" sz="9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2027</a:t>
            </a:r>
            <a:endParaRPr b="0" i="0" sz="9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22"/>
          <p:cNvSpPr txBox="1"/>
          <p:nvPr/>
        </p:nvSpPr>
        <p:spPr>
          <a:xfrm>
            <a:off x="2502145" y="1739681"/>
            <a:ext cx="501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0" i="0" sz="14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22"/>
          <p:cNvSpPr txBox="1"/>
          <p:nvPr/>
        </p:nvSpPr>
        <p:spPr>
          <a:xfrm>
            <a:off x="4335155" y="1739681"/>
            <a:ext cx="501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0" i="0" sz="14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22"/>
          <p:cNvSpPr txBox="1"/>
          <p:nvPr/>
        </p:nvSpPr>
        <p:spPr>
          <a:xfrm>
            <a:off x="6168166" y="1730134"/>
            <a:ext cx="501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Q4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22"/>
          <p:cNvSpPr/>
          <p:nvPr/>
        </p:nvSpPr>
        <p:spPr>
          <a:xfrm>
            <a:off x="1477571" y="1363312"/>
            <a:ext cx="96600" cy="96600"/>
          </a:xfrm>
          <a:prstGeom prst="ellipse">
            <a:avLst/>
          </a:prstGeom>
          <a:solidFill>
            <a:srgbClr val="8E006C"/>
          </a:solidFill>
          <a:ln>
            <a:noFill/>
          </a:ln>
        </p:spPr>
        <p:txBody>
          <a:bodyPr anchorCtr="0" anchor="ctr" bIns="34425" lIns="68875" spcFirstLastPara="1" rIns="68875" wrap="square" tIns="3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5" name="Google Shape;855;p122"/>
          <p:cNvCxnSpPr>
            <a:stCxn id="841" idx="2"/>
            <a:endCxn id="856" idx="0"/>
          </p:cNvCxnSpPr>
          <p:nvPr/>
        </p:nvCxnSpPr>
        <p:spPr>
          <a:xfrm>
            <a:off x="3363661" y="1925563"/>
            <a:ext cx="300" cy="11748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7" name="Google Shape;857;p122"/>
          <p:cNvCxnSpPr>
            <a:stCxn id="845" idx="2"/>
            <a:endCxn id="858" idx="0"/>
          </p:cNvCxnSpPr>
          <p:nvPr/>
        </p:nvCxnSpPr>
        <p:spPr>
          <a:xfrm>
            <a:off x="5807660" y="1925563"/>
            <a:ext cx="1200" cy="11748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122"/>
          <p:cNvCxnSpPr>
            <a:stCxn id="853" idx="2"/>
            <a:endCxn id="860" idx="0"/>
          </p:cNvCxnSpPr>
          <p:nvPr/>
        </p:nvCxnSpPr>
        <p:spPr>
          <a:xfrm>
            <a:off x="6418666" y="1976134"/>
            <a:ext cx="2400" cy="4488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1" name="Google Shape;861;p122"/>
          <p:cNvCxnSpPr>
            <a:stCxn id="848" idx="2"/>
            <a:endCxn id="862" idx="0"/>
          </p:cNvCxnSpPr>
          <p:nvPr/>
        </p:nvCxnSpPr>
        <p:spPr>
          <a:xfrm flipH="1">
            <a:off x="7635279" y="1925563"/>
            <a:ext cx="5400" cy="4995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3" name="Google Shape;863;p122"/>
          <p:cNvCxnSpPr>
            <a:stCxn id="842" idx="2"/>
            <a:endCxn id="864" idx="0"/>
          </p:cNvCxnSpPr>
          <p:nvPr/>
        </p:nvCxnSpPr>
        <p:spPr>
          <a:xfrm>
            <a:off x="3974667" y="1925563"/>
            <a:ext cx="4800" cy="4995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122"/>
          <p:cNvCxnSpPr>
            <a:endCxn id="866" idx="0"/>
          </p:cNvCxnSpPr>
          <p:nvPr/>
        </p:nvCxnSpPr>
        <p:spPr>
          <a:xfrm>
            <a:off x="2135490" y="2007723"/>
            <a:ext cx="6300" cy="10926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122"/>
          <p:cNvCxnSpPr>
            <a:stCxn id="851" idx="2"/>
            <a:endCxn id="868" idx="0"/>
          </p:cNvCxnSpPr>
          <p:nvPr/>
        </p:nvCxnSpPr>
        <p:spPr>
          <a:xfrm>
            <a:off x="2752645" y="1985681"/>
            <a:ext cx="0" cy="4395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9" name="Google Shape;869;p122"/>
          <p:cNvCxnSpPr/>
          <p:nvPr/>
        </p:nvCxnSpPr>
        <p:spPr>
          <a:xfrm>
            <a:off x="1530694" y="1985552"/>
            <a:ext cx="0" cy="4026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122"/>
          <p:cNvCxnSpPr>
            <a:stCxn id="849" idx="2"/>
            <a:endCxn id="871" idx="0"/>
          </p:cNvCxnSpPr>
          <p:nvPr/>
        </p:nvCxnSpPr>
        <p:spPr>
          <a:xfrm>
            <a:off x="919661" y="1985681"/>
            <a:ext cx="11700" cy="11145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1" name="Google Shape;871;p122"/>
          <p:cNvSpPr txBox="1"/>
          <p:nvPr/>
        </p:nvSpPr>
        <p:spPr>
          <a:xfrm>
            <a:off x="641820" y="3100323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 27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22"/>
          <p:cNvSpPr txBox="1"/>
          <p:nvPr/>
        </p:nvSpPr>
        <p:spPr>
          <a:xfrm>
            <a:off x="2463133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Strategy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Apr 28</a:t>
            </a:r>
            <a:endParaRPr b="1" i="0" sz="8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22"/>
          <p:cNvSpPr txBox="1"/>
          <p:nvPr/>
        </p:nvSpPr>
        <p:spPr>
          <a:xfrm>
            <a:off x="1241134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Leadership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44546A"/>
                </a:solidFill>
              </a:rPr>
              <a:t>Feb 26</a:t>
            </a:r>
            <a:endParaRPr b="0" i="1" sz="6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22"/>
          <p:cNvSpPr txBox="1"/>
          <p:nvPr/>
        </p:nvSpPr>
        <p:spPr>
          <a:xfrm>
            <a:off x="1852140" y="3100323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 24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122"/>
          <p:cNvCxnSpPr>
            <a:stCxn id="847" idx="2"/>
            <a:endCxn id="874" idx="0"/>
          </p:cNvCxnSpPr>
          <p:nvPr/>
        </p:nvCxnSpPr>
        <p:spPr>
          <a:xfrm flipH="1">
            <a:off x="7021273" y="1925563"/>
            <a:ext cx="8400" cy="11748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6" name="Google Shape;856;p122"/>
          <p:cNvSpPr txBox="1"/>
          <p:nvPr/>
        </p:nvSpPr>
        <p:spPr>
          <a:xfrm>
            <a:off x="3074378" y="3100323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26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22"/>
          <p:cNvSpPr txBox="1"/>
          <p:nvPr/>
        </p:nvSpPr>
        <p:spPr>
          <a:xfrm>
            <a:off x="3689854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Strategy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Jun 23</a:t>
            </a:r>
            <a:endParaRPr b="1" i="0" sz="8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22"/>
          <p:cNvSpPr txBox="1"/>
          <p:nvPr/>
        </p:nvSpPr>
        <p:spPr>
          <a:xfrm>
            <a:off x="5519320" y="3100323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 22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22"/>
          <p:cNvSpPr txBox="1"/>
          <p:nvPr/>
        </p:nvSpPr>
        <p:spPr>
          <a:xfrm>
            <a:off x="6131267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Strategy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Oct 27</a:t>
            </a:r>
            <a:endParaRPr b="1" i="0" sz="8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22"/>
          <p:cNvSpPr txBox="1"/>
          <p:nvPr/>
        </p:nvSpPr>
        <p:spPr>
          <a:xfrm>
            <a:off x="7345747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Strategy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Dec 15</a:t>
            </a:r>
            <a:endParaRPr b="1" i="0" sz="8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22"/>
          <p:cNvSpPr txBox="1"/>
          <p:nvPr/>
        </p:nvSpPr>
        <p:spPr>
          <a:xfrm>
            <a:off x="6731501" y="3100323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 17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122"/>
          <p:cNvCxnSpPr>
            <a:stCxn id="844" idx="2"/>
            <a:endCxn id="876" idx="0"/>
          </p:cNvCxnSpPr>
          <p:nvPr/>
        </p:nvCxnSpPr>
        <p:spPr>
          <a:xfrm>
            <a:off x="5196654" y="1925563"/>
            <a:ext cx="0" cy="4995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6" name="Google Shape;876;p122"/>
          <p:cNvSpPr txBox="1"/>
          <p:nvPr/>
        </p:nvSpPr>
        <p:spPr>
          <a:xfrm>
            <a:off x="4907146" y="2425082"/>
            <a:ext cx="579300" cy="493800"/>
          </a:xfrm>
          <a:prstGeom prst="rect">
            <a:avLst/>
          </a:prstGeom>
          <a:solidFill>
            <a:srgbClr val="DAE7F0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9823"/>
                </a:solidFill>
                <a:latin typeface="Arial"/>
                <a:ea typeface="Arial"/>
                <a:cs typeface="Arial"/>
                <a:sym typeface="Arial"/>
              </a:rPr>
              <a:t>Leadership Meeting</a:t>
            </a:r>
            <a:endParaRPr b="0" i="0" sz="800" u="none" cap="none" strike="noStrike">
              <a:solidFill>
                <a:srgbClr val="8E006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b="1" i="0" sz="8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1" lang="en" sz="5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 person at OSD</a:t>
            </a:r>
            <a:endParaRPr b="0" i="1" sz="5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7" name="Google Shape;877;p122"/>
          <p:cNvCxnSpPr>
            <a:stCxn id="852" idx="2"/>
            <a:endCxn id="878" idx="0"/>
          </p:cNvCxnSpPr>
          <p:nvPr/>
        </p:nvCxnSpPr>
        <p:spPr>
          <a:xfrm>
            <a:off x="4585655" y="1985681"/>
            <a:ext cx="900" cy="1113300"/>
          </a:xfrm>
          <a:prstGeom prst="straightConnector1">
            <a:avLst/>
          </a:prstGeom>
          <a:noFill/>
          <a:ln cap="flat" cmpd="sng" w="9575">
            <a:solidFill>
              <a:srgbClr val="9399A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8" name="Google Shape;878;p122"/>
          <p:cNvSpPr txBox="1"/>
          <p:nvPr/>
        </p:nvSpPr>
        <p:spPr>
          <a:xfrm>
            <a:off x="4296833" y="3098941"/>
            <a:ext cx="579300" cy="493800"/>
          </a:xfrm>
          <a:prstGeom prst="rect">
            <a:avLst/>
          </a:prstGeom>
          <a:solidFill>
            <a:srgbClr val="FFFFFF"/>
          </a:solidFill>
          <a:ln cap="flat" cmpd="sng" w="9575">
            <a:solidFill>
              <a:srgbClr val="939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425" lIns="0" spcFirstLastPara="1" rIns="0" wrap="square" tIns="34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8E006C"/>
                </a:solidFill>
                <a:latin typeface="Arial"/>
                <a:ea typeface="Arial"/>
                <a:cs typeface="Arial"/>
                <a:sym typeface="Arial"/>
              </a:rPr>
              <a:t>Governing Board Meeting</a:t>
            </a:r>
            <a:endParaRPr b="1" i="0" sz="800" u="none" cap="none" strike="noStrike">
              <a:solidFill>
                <a:srgbClr val="B49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006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Jul 28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23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would like to propose an agenda item for discussion at a Governing Board meeting, please submit your proposal to the Academy Software Foundation Executive Director &amp; </a:t>
            </a:r>
            <a:r>
              <a:rPr lang="en" sz="1500"/>
              <a:t>the Governing Board Chair</a:t>
            </a:r>
            <a:r>
              <a:rPr lang="en" sz="1500"/>
              <a:t>.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Please include in your request:</a:t>
            </a:r>
            <a:endParaRPr sz="1500"/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 description of the topic</a:t>
            </a:r>
            <a:endParaRPr sz="1200"/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Board resolution or discussion-only item</a:t>
            </a:r>
            <a:endParaRPr sz="1200"/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Requested amount of time to discuss the item</a:t>
            </a:r>
            <a:endParaRPr sz="12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a regular Governing Board meeting, please submit your proposed agenda item at least 10 days prior to the meeting.</a:t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a Strategy Session, please submit your proposed agenda item at least 30 days prior to the meeting.</a:t>
            </a:r>
            <a:endParaRPr sz="1500"/>
          </a:p>
        </p:txBody>
      </p:sp>
      <p:sp>
        <p:nvSpPr>
          <p:cNvPr id="884" name="Google Shape;884;p123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propose an agenda item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2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Please be patient. Our board meeting agendas are often very full. If we cannot accommodate your request in the upcoming meeting we may:</a:t>
            </a:r>
            <a:endParaRPr sz="1800"/>
          </a:p>
          <a:p>
            <a: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Wait until the following meeting to discuss the topic</a:t>
            </a:r>
            <a:endParaRPr sz="1500"/>
          </a:p>
          <a:p>
            <a: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Call a special meeting to discuss your topic, or </a:t>
            </a:r>
            <a:endParaRPr sz="1500"/>
          </a:p>
          <a:p>
            <a: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Refer the topic to the appropriate committee or task force of the Governing Board.</a:t>
            </a:r>
            <a:endParaRPr sz="15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may ask you to provide slides 5 days before the meeting, and slides are subject to change (with your approval) to fit the broader meeting slide deck.</a:t>
            </a:r>
            <a:endParaRPr sz="1800"/>
          </a:p>
        </p:txBody>
      </p:sp>
      <p:sp>
        <p:nvSpPr>
          <p:cNvPr id="890" name="Google Shape;890;p124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Proposing an agenda item (continued)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5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Agendas and Exhibits for Governing Board meetings will be made available one week prior to the scheduled meeting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The FINAL deck will be made available one day prior to the meeting.</a:t>
            </a:r>
            <a:endParaRPr sz="17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Past meeting materials can be found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All meeting materials are </a:t>
            </a:r>
            <a:r>
              <a:rPr lang="en" sz="2000"/>
              <a:t>confidential</a:t>
            </a:r>
            <a:r>
              <a:rPr lang="en" sz="2000"/>
              <a:t> and for the view of Governing Board representatives and </a:t>
            </a:r>
            <a:r>
              <a:rPr lang="en" sz="2000"/>
              <a:t>their</a:t>
            </a:r>
            <a:r>
              <a:rPr lang="en" sz="2000"/>
              <a:t> alternates ONLY, unless otherwise specified.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No meeting of the Governing Board is recorded unless the Governing Board provides </a:t>
            </a:r>
            <a:r>
              <a:rPr lang="en" sz="1700"/>
              <a:t>explicit</a:t>
            </a:r>
            <a:r>
              <a:rPr lang="en" sz="1700"/>
              <a:t> consent to do so.</a:t>
            </a:r>
            <a:r>
              <a:rPr lang="en" sz="1700"/>
              <a:t> </a:t>
            </a:r>
            <a:endParaRPr sz="1700"/>
          </a:p>
        </p:txBody>
      </p:sp>
      <p:sp>
        <p:nvSpPr>
          <p:cNvPr id="896" name="Google Shape;896;p125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Materials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26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Relevant Mailing Lists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Governing Board: </a:t>
            </a:r>
            <a:r>
              <a:rPr lang="en" u="sng">
                <a:solidFill>
                  <a:schemeClr val="hlink"/>
                </a:solidFill>
                <a:hlinkClick r:id="rId3"/>
              </a:rPr>
              <a:t>board@lists.aswf.io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TAC: </a:t>
            </a:r>
            <a:r>
              <a:rPr lang="en" u="sng">
                <a:solidFill>
                  <a:schemeClr val="hlink"/>
                </a:solidFill>
                <a:hlinkClick r:id="rId4"/>
              </a:rPr>
              <a:t>tac@lists.aswf.io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Budget Committee: </a:t>
            </a:r>
            <a:r>
              <a:rPr lang="en" u="sng">
                <a:solidFill>
                  <a:schemeClr val="hlink"/>
                </a:solidFill>
                <a:hlinkClick r:id="rId5"/>
              </a:rPr>
              <a:t>budget@lists.aswf.io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Legal Committee: </a:t>
            </a:r>
            <a:r>
              <a:rPr lang="en" u="sng">
                <a:solidFill>
                  <a:schemeClr val="hlink"/>
                </a:solidFill>
                <a:hlinkClick r:id="rId6"/>
              </a:rPr>
              <a:t>legal@lists.aswf.io</a:t>
            </a:r>
            <a:endParaRPr/>
          </a:p>
        </p:txBody>
      </p:sp>
      <p:sp>
        <p:nvSpPr>
          <p:cNvPr id="902" name="Google Shape;902;p126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Channels</a:t>
            </a:r>
            <a:endParaRPr/>
          </a:p>
        </p:txBody>
      </p:sp>
      <p:sp>
        <p:nvSpPr>
          <p:cNvPr id="903" name="Google Shape;903;p126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Slack Channel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You can </a:t>
            </a:r>
            <a:r>
              <a:rPr lang="en" u="sng">
                <a:solidFill>
                  <a:schemeClr val="hlink"/>
                </a:solidFill>
                <a:hlinkClick r:id="rId7"/>
              </a:rPr>
              <a:t>join Academy Software Foundation slack here</a:t>
            </a:r>
            <a:r>
              <a:rPr lang="en"/>
              <a:t>. 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To join the Governing Board slack channel, make a request at </a:t>
            </a:r>
            <a:r>
              <a:rPr lang="en" u="sng">
                <a:solidFill>
                  <a:schemeClr val="hlink"/>
                </a:solidFill>
                <a:hlinkClick r:id="rId8"/>
              </a:rPr>
              <a:t>members.aswf.io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27"/>
          <p:cNvSpPr txBox="1"/>
          <p:nvPr>
            <p:ph type="title"/>
          </p:nvPr>
        </p:nvSpPr>
        <p:spPr>
          <a:xfrm>
            <a:off x="628800" y="1275325"/>
            <a:ext cx="7886400" cy="14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Committees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28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Committee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2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Budget Committee is lead by the Governing Board Treasurer and collaborates with the Academy Software Foundation staff to develop and review the Academy Software Foundation budget.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Any Governing Board representative may join ( not alternates )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Meets generally monthly on the Monday of the week before the Governing Board meeting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900"/>
              <a:t>ACTION: If you want to participate in the Budget Committee, make a request at </a:t>
            </a:r>
            <a:r>
              <a:rPr b="1" lang="en" sz="1900" u="sng">
                <a:solidFill>
                  <a:schemeClr val="hlink"/>
                </a:solidFill>
                <a:hlinkClick r:id="rId3"/>
              </a:rPr>
              <a:t>members.aswf.io</a:t>
            </a:r>
            <a:r>
              <a:rPr b="1" lang="en" sz="1900"/>
              <a:t>.</a:t>
            </a:r>
            <a:endParaRPr b="1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29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Legal Committee makes recommendations to the Governing Board regarding license exception requests from Academy Software Foundation projects and other questions submitted to the Legal Committee by the Governing Board. 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Legal Committee does not represent Academy Software Foundation and does not have an attorney-client relationship with Academy Software Foundation.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Meets on an as needed basis.</a:t>
            </a:r>
            <a:endParaRPr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Governing Boards may attend only if accompanied by their legal counsel.</a:t>
            </a:r>
            <a:endParaRPr sz="1700"/>
          </a:p>
        </p:txBody>
      </p:sp>
      <p:sp>
        <p:nvSpPr>
          <p:cNvPr id="920" name="Google Shape;920;p129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Legal</a:t>
            </a:r>
            <a:r>
              <a:rPr lang="en"/>
              <a:t> Committee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0"/>
          <p:cNvSpPr txBox="1"/>
          <p:nvPr>
            <p:ph type="title"/>
          </p:nvPr>
        </p:nvSpPr>
        <p:spPr>
          <a:xfrm>
            <a:off x="628800" y="1860750"/>
            <a:ext cx="7886400" cy="711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Policies and Other Resources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31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Important</a:t>
            </a:r>
            <a:r>
              <a:rPr lang="en" sz="2200"/>
              <a:t> Academy Software Foundation Policies and Resources</a:t>
            </a:r>
            <a:endParaRPr sz="2200"/>
          </a:p>
        </p:txBody>
      </p:sp>
      <p:sp>
        <p:nvSpPr>
          <p:cNvPr id="931" name="Google Shape;931;p131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Academy Software Foundation Charter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4"/>
              </a:rPr>
              <a:t>Linux Foundation Antitrust Policy</a:t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Foundation GitHub repository</a:t>
            </a:r>
            <a:r>
              <a:rPr lang="en" sz="1900"/>
              <a:t> with many other public facing policies and materials including…</a:t>
            </a:r>
            <a:endParaRPr sz="19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Elections Process</a:t>
            </a:r>
            <a:endParaRPr sz="1600"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Academy Software Foundation hosted project charters</a:t>
            </a:r>
            <a:r>
              <a:rPr lang="en" sz="1600"/>
              <a:t>, which define each project’s intellectual property and licensing policies.</a:t>
            </a:r>
            <a:endParaRPr sz="16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8"/>
              </a:rPr>
              <a:t>ASWF Landscape</a:t>
            </a:r>
            <a:endParaRPr sz="19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3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LFX Organization Dashboard</a:t>
            </a:r>
            <a:r>
              <a:rPr lang="en" sz="1800"/>
              <a:t> provides access to key membership materials, including…</a:t>
            </a:r>
            <a:endParaRPr sz="1800"/>
          </a:p>
          <a:p>
            <a:pPr indent="-323850" lvl="1" marL="4572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Member contacts, which you can change at any time ( look under ‘Users’ &gt; and then under the ‘Key People’ tab )</a:t>
            </a:r>
            <a:endParaRPr sz="1500"/>
          </a:p>
          <a:p>
            <a:pPr indent="-323850" lvl="1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Membership details ( look under ‘Membership’ &gt; ‘Academy Software Foundation’ ), including…</a:t>
            </a:r>
            <a:endParaRPr sz="15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Membership Overview Deck and High Level Overview Deck ( look under the ‘Resources’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Your fully executed membership agreement ( look under the ‘Membership’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Details on how to leverage membership benefits ( look under the ‘Benefits’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Insights on contributors from your organization ( look under the ‘Project Contributors’ tab )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ACTION: Request access to LFX Organizational Dashboard </a:t>
            </a:r>
            <a:r>
              <a:rPr b="1" lang="en" sz="1800" u="sng">
                <a:solidFill>
                  <a:schemeClr val="hlink"/>
                </a:solidFill>
                <a:hlinkClick r:id="rId4"/>
              </a:rPr>
              <a:t>here</a:t>
            </a:r>
            <a:r>
              <a:rPr b="1" lang="en" sz="1800"/>
              <a:t>.</a:t>
            </a:r>
            <a:endParaRPr b="1" sz="1800"/>
          </a:p>
        </p:txBody>
      </p:sp>
      <p:sp>
        <p:nvSpPr>
          <p:cNvPr id="937" name="Google Shape;937;p132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LFX Organization Dashboard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33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Foundation Staff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33"/>
          <p:cNvSpPr txBox="1"/>
          <p:nvPr/>
        </p:nvSpPr>
        <p:spPr>
          <a:xfrm>
            <a:off x="-22425" y="4415419"/>
            <a:ext cx="91665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Contact the staff at </a:t>
            </a:r>
            <a:r>
              <a:rPr b="1" lang="en" sz="2000" u="sng">
                <a:solidFill>
                  <a:schemeClr val="hlink"/>
                </a:solidFill>
                <a:hlinkClick r:id="rId3"/>
              </a:rPr>
              <a:t>members.aswf.io</a:t>
            </a:r>
            <a:endParaRPr b="1" sz="2000"/>
          </a:p>
        </p:txBody>
      </p:sp>
      <p:pic>
        <p:nvPicPr>
          <p:cNvPr id="944" name="Google Shape;944;p133" title="Screenshot 2026-07-17 at 8.29.0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86669"/>
            <a:ext cx="8839199" cy="210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34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Who’s Who in the </a:t>
            </a:r>
            <a:r>
              <a:rPr lang="en" sz="2200"/>
              <a:t>Academy Software Foundation</a:t>
            </a:r>
            <a:endParaRPr sz="2200"/>
          </a:p>
        </p:txBody>
      </p:sp>
      <p:sp>
        <p:nvSpPr>
          <p:cNvPr id="950" name="Google Shape;950;p13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Academy Software Foundation Members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Staff: </a:t>
            </a:r>
            <a:r>
              <a:rPr lang="en" u="sng">
                <a:solidFill>
                  <a:schemeClr val="hlink"/>
                </a:solidFill>
                <a:hlinkClick r:id="rId4"/>
              </a:rPr>
              <a:t>Academy Software Foundation Staff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Linux Foundation Leadership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Governing Board Members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Technical Advisory Council Members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Academy Software Foundation Project and Working Group Leads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35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956" name="Google Shape;956;p135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have any questions, feel free to contact the staff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members.aswf.io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SWF 2023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SWF 2023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SWF 2023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